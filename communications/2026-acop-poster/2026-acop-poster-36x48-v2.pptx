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4501"/>
    <a:srgbClr val="5392BE"/>
    <a:srgbClr val="819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/>
    <p:restoredTop sz="94632"/>
  </p:normalViewPr>
  <p:slideViewPr>
    <p:cSldViewPr snapToGrid="0">
      <p:cViewPr>
        <p:scale>
          <a:sx n="54" d="100"/>
          <a:sy n="54" d="100"/>
        </p:scale>
        <p:origin x="90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in, Andrew" userId="fa05adcc-50f1-400a-bab7-31aa48e2f649" providerId="ADAL" clId="{3CF42407-B277-541E-B112-8FFD6DAAAE27}"/>
    <pc:docChg chg="undo custSel modSld">
      <pc:chgData name="Stein, Andrew" userId="fa05adcc-50f1-400a-bab7-31aa48e2f649" providerId="ADAL" clId="{3CF42407-B277-541E-B112-8FFD6DAAAE27}" dt="2026-09-29T10:06:26.064" v="1813" actId="1036"/>
      <pc:docMkLst>
        <pc:docMk/>
      </pc:docMkLst>
      <pc:sldChg chg="addSp delSp modSp mod modNotesTx">
        <pc:chgData name="Stein, Andrew" userId="fa05adcc-50f1-400a-bab7-31aa48e2f649" providerId="ADAL" clId="{3CF42407-B277-541E-B112-8FFD6DAAAE27}" dt="2026-09-29T10:06:26.064" v="1813" actId="1036"/>
        <pc:sldMkLst>
          <pc:docMk/>
          <pc:sldMk cId="1680193071" sldId="256"/>
        </pc:sldMkLst>
        <pc:spChg chg="mod">
          <ac:chgData name="Stein, Andrew" userId="fa05adcc-50f1-400a-bab7-31aa48e2f649" providerId="ADAL" clId="{3CF42407-B277-541E-B112-8FFD6DAAAE27}" dt="2026-09-29T10:05:45.077" v="1792" actId="1076"/>
          <ac:spMkLst>
            <pc:docMk/>
            <pc:sldMk cId="1680193071" sldId="256"/>
            <ac:spMk id="7" creationId="{7F29821F-F8FE-78E3-F938-6F34BC5CE5AC}"/>
          </ac:spMkLst>
        </pc:spChg>
        <pc:spChg chg="mod">
          <ac:chgData name="Stein, Andrew" userId="fa05adcc-50f1-400a-bab7-31aa48e2f649" providerId="ADAL" clId="{3CF42407-B277-541E-B112-8FFD6DAAAE27}" dt="2026-09-29T10:05:45.077" v="1792" actId="1076"/>
          <ac:spMkLst>
            <pc:docMk/>
            <pc:sldMk cId="1680193071" sldId="256"/>
            <ac:spMk id="8" creationId="{B3400E49-2EDA-972B-6985-6CDDC37D8BCC}"/>
          </ac:spMkLst>
        </pc:spChg>
        <pc:spChg chg="mod">
          <ac:chgData name="Stein, Andrew" userId="fa05adcc-50f1-400a-bab7-31aa48e2f649" providerId="ADAL" clId="{3CF42407-B277-541E-B112-8FFD6DAAAE27}" dt="2026-09-29T10:05:45.077" v="1792" actId="1076"/>
          <ac:spMkLst>
            <pc:docMk/>
            <pc:sldMk cId="1680193071" sldId="256"/>
            <ac:spMk id="9" creationId="{F177ED28-8BFE-40D6-229A-131CEA5941D9}"/>
          </ac:spMkLst>
        </pc:spChg>
        <pc:spChg chg="mod">
          <ac:chgData name="Stein, Andrew" userId="fa05adcc-50f1-400a-bab7-31aa48e2f649" providerId="ADAL" clId="{3CF42407-B277-541E-B112-8FFD6DAAAE27}" dt="2026-09-19T09:42:22.648" v="443" actId="1076"/>
          <ac:spMkLst>
            <pc:docMk/>
            <pc:sldMk cId="1680193071" sldId="256"/>
            <ac:spMk id="11" creationId="{6B91A59D-D913-9972-3166-37BCDEF105B1}"/>
          </ac:spMkLst>
        </pc:spChg>
        <pc:spChg chg="mod">
          <ac:chgData name="Stein, Andrew" userId="fa05adcc-50f1-400a-bab7-31aa48e2f649" providerId="ADAL" clId="{3CF42407-B277-541E-B112-8FFD6DAAAE27}" dt="2026-09-19T09:39:03.923" v="254" actId="57"/>
          <ac:spMkLst>
            <pc:docMk/>
            <pc:sldMk cId="1680193071" sldId="256"/>
            <ac:spMk id="13" creationId="{51D6F171-E06E-413D-AE57-C8AFA2C56B03}"/>
          </ac:spMkLst>
        </pc:spChg>
        <pc:spChg chg="mod">
          <ac:chgData name="Stein, Andrew" userId="fa05adcc-50f1-400a-bab7-31aa48e2f649" providerId="ADAL" clId="{3CF42407-B277-541E-B112-8FFD6DAAAE27}" dt="2026-09-22T14:27:43.483" v="843" actId="1076"/>
          <ac:spMkLst>
            <pc:docMk/>
            <pc:sldMk cId="1680193071" sldId="256"/>
            <ac:spMk id="14" creationId="{F9010F52-6D59-48AD-8894-1DB1C4937F63}"/>
          </ac:spMkLst>
        </pc:spChg>
        <pc:spChg chg="mod">
          <ac:chgData name="Stein, Andrew" userId="fa05adcc-50f1-400a-bab7-31aa48e2f649" providerId="ADAL" clId="{3CF42407-B277-541E-B112-8FFD6DAAAE27}" dt="2026-09-19T09:31:34.399" v="62" actId="20577"/>
          <ac:spMkLst>
            <pc:docMk/>
            <pc:sldMk cId="1680193071" sldId="256"/>
            <ac:spMk id="27" creationId="{56A9DCDC-36BB-431C-90D7-5EB1B2D3BB00}"/>
          </ac:spMkLst>
        </pc:spChg>
        <pc:spChg chg="mod">
          <ac:chgData name="Stein, Andrew" userId="fa05adcc-50f1-400a-bab7-31aa48e2f649" providerId="ADAL" clId="{3CF42407-B277-541E-B112-8FFD6DAAAE27}" dt="2026-09-19T09:31:55.390" v="69" actId="20577"/>
          <ac:spMkLst>
            <pc:docMk/>
            <pc:sldMk cId="1680193071" sldId="256"/>
            <ac:spMk id="28" creationId="{D71E4934-A988-4B37-A97D-BF50467F7301}"/>
          </ac:spMkLst>
        </pc:spChg>
        <pc:spChg chg="mod">
          <ac:chgData name="Stein, Andrew" userId="fa05adcc-50f1-400a-bab7-31aa48e2f649" providerId="ADAL" clId="{3CF42407-B277-541E-B112-8FFD6DAAAE27}" dt="2026-09-19T09:32:17.615" v="71" actId="20577"/>
          <ac:spMkLst>
            <pc:docMk/>
            <pc:sldMk cId="1680193071" sldId="256"/>
            <ac:spMk id="30" creationId="{E5F470C0-1B79-4C15-BB68-B243641F165C}"/>
          </ac:spMkLst>
        </pc:spChg>
        <pc:spChg chg="add mod">
          <ac:chgData name="Stein, Andrew" userId="fa05adcc-50f1-400a-bab7-31aa48e2f649" providerId="ADAL" clId="{3CF42407-B277-541E-B112-8FFD6DAAAE27}" dt="2026-09-19T09:42:15.548" v="441" actId="20577"/>
          <ac:spMkLst>
            <pc:docMk/>
            <pc:sldMk cId="1680193071" sldId="256"/>
            <ac:spMk id="32" creationId="{27187BAA-A955-1174-0AA6-DD987AE51AAF}"/>
          </ac:spMkLst>
        </pc:spChg>
        <pc:spChg chg="mod">
          <ac:chgData name="Stein, Andrew" userId="fa05adcc-50f1-400a-bab7-31aa48e2f649" providerId="ADAL" clId="{3CF42407-B277-541E-B112-8FFD6DAAAE27}" dt="2026-09-19T09:33:31.734" v="78" actId="14100"/>
          <ac:spMkLst>
            <pc:docMk/>
            <pc:sldMk cId="1680193071" sldId="256"/>
            <ac:spMk id="38" creationId="{117E4184-7C3A-4999-B890-A8CEAE9FA862}"/>
          </ac:spMkLst>
        </pc:spChg>
        <pc:spChg chg="mod">
          <ac:chgData name="Stein, Andrew" userId="fa05adcc-50f1-400a-bab7-31aa48e2f649" providerId="ADAL" clId="{3CF42407-B277-541E-B112-8FFD6DAAAE27}" dt="2026-09-19T09:33:37.406" v="79" actId="1076"/>
          <ac:spMkLst>
            <pc:docMk/>
            <pc:sldMk cId="1680193071" sldId="256"/>
            <ac:spMk id="39" creationId="{091645AC-40AE-4D68-833B-94F02FFBFC34}"/>
          </ac:spMkLst>
        </pc:spChg>
        <pc:spChg chg="mod">
          <ac:chgData name="Stein, Andrew" userId="fa05adcc-50f1-400a-bab7-31aa48e2f649" providerId="ADAL" clId="{3CF42407-B277-541E-B112-8FFD6DAAAE27}" dt="2026-09-22T15:40:55.290" v="1614" actId="20577"/>
          <ac:spMkLst>
            <pc:docMk/>
            <pc:sldMk cId="1680193071" sldId="256"/>
            <ac:spMk id="42" creationId="{93589E9A-2C25-4ED2-98EE-C4107BD68174}"/>
          </ac:spMkLst>
        </pc:spChg>
        <pc:spChg chg="mod">
          <ac:chgData name="Stein, Andrew" userId="fa05adcc-50f1-400a-bab7-31aa48e2f649" providerId="ADAL" clId="{3CF42407-B277-541E-B112-8FFD6DAAAE27}" dt="2026-09-22T15:39:52.187" v="1517" actId="1076"/>
          <ac:spMkLst>
            <pc:docMk/>
            <pc:sldMk cId="1680193071" sldId="256"/>
            <ac:spMk id="43" creationId="{7E676F2F-487B-4BCF-92F9-F40E6A349654}"/>
          </ac:spMkLst>
        </pc:spChg>
        <pc:spChg chg="mod">
          <ac:chgData name="Stein, Andrew" userId="fa05adcc-50f1-400a-bab7-31aa48e2f649" providerId="ADAL" clId="{3CF42407-B277-541E-B112-8FFD6DAAAE27}" dt="2026-09-22T15:39:52.187" v="1517" actId="1076"/>
          <ac:spMkLst>
            <pc:docMk/>
            <pc:sldMk cId="1680193071" sldId="256"/>
            <ac:spMk id="44" creationId="{98F60FE5-4375-4176-893D-E081086F3D7E}"/>
          </ac:spMkLst>
        </pc:spChg>
        <pc:spChg chg="mod">
          <ac:chgData name="Stein, Andrew" userId="fa05adcc-50f1-400a-bab7-31aa48e2f649" providerId="ADAL" clId="{3CF42407-B277-541E-B112-8FFD6DAAAE27}" dt="2026-09-22T15:20:42.977" v="1315" actId="20577"/>
          <ac:spMkLst>
            <pc:docMk/>
            <pc:sldMk cId="1680193071" sldId="256"/>
            <ac:spMk id="47" creationId="{9E755767-2F25-44CE-ACED-1764D1F2C276}"/>
          </ac:spMkLst>
        </pc:spChg>
        <pc:spChg chg="mod">
          <ac:chgData name="Stein, Andrew" userId="fa05adcc-50f1-400a-bab7-31aa48e2f649" providerId="ADAL" clId="{3CF42407-B277-541E-B112-8FFD6DAAAE27}" dt="2026-09-22T15:20:50.121" v="1316" actId="6549"/>
          <ac:spMkLst>
            <pc:docMk/>
            <pc:sldMk cId="1680193071" sldId="256"/>
            <ac:spMk id="49" creationId="{C56566CC-E4C0-461B-BD85-0335EBA9A906}"/>
          </ac:spMkLst>
        </pc:spChg>
        <pc:spChg chg="mod">
          <ac:chgData name="Stein, Andrew" userId="fa05adcc-50f1-400a-bab7-31aa48e2f649" providerId="ADAL" clId="{3CF42407-B277-541E-B112-8FFD6DAAAE27}" dt="2026-09-19T09:36:52.919" v="246" actId="6549"/>
          <ac:spMkLst>
            <pc:docMk/>
            <pc:sldMk cId="1680193071" sldId="256"/>
            <ac:spMk id="51" creationId="{EE0EF4ED-118D-49DE-9185-2399E0664556}"/>
          </ac:spMkLst>
        </pc:spChg>
        <pc:spChg chg="mod">
          <ac:chgData name="Stein, Andrew" userId="fa05adcc-50f1-400a-bab7-31aa48e2f649" providerId="ADAL" clId="{3CF42407-B277-541E-B112-8FFD6DAAAE27}" dt="2026-09-22T16:33:56.519" v="1622" actId="20577"/>
          <ac:spMkLst>
            <pc:docMk/>
            <pc:sldMk cId="1680193071" sldId="256"/>
            <ac:spMk id="53" creationId="{B1522EB7-EA3F-45DB-88E6-89BCF60552C1}"/>
          </ac:spMkLst>
        </pc:spChg>
        <pc:spChg chg="mod">
          <ac:chgData name="Stein, Andrew" userId="fa05adcc-50f1-400a-bab7-31aa48e2f649" providerId="ADAL" clId="{3CF42407-B277-541E-B112-8FFD6DAAAE27}" dt="2026-09-22T15:39:52.187" v="1517" actId="1076"/>
          <ac:spMkLst>
            <pc:docMk/>
            <pc:sldMk cId="1680193071" sldId="256"/>
            <ac:spMk id="54" creationId="{096434BE-6F9C-4810-9D65-53ED8CB19696}"/>
          </ac:spMkLst>
        </pc:spChg>
        <pc:spChg chg="mod">
          <ac:chgData name="Stein, Andrew" userId="fa05adcc-50f1-400a-bab7-31aa48e2f649" providerId="ADAL" clId="{3CF42407-B277-541E-B112-8FFD6DAAAE27}" dt="2026-09-22T15:39:36.417" v="1516" actId="1076"/>
          <ac:spMkLst>
            <pc:docMk/>
            <pc:sldMk cId="1680193071" sldId="256"/>
            <ac:spMk id="56" creationId="{B4D8E939-5088-4AB1-9EBD-0481A77161C8}"/>
          </ac:spMkLst>
        </pc:spChg>
        <pc:spChg chg="mod">
          <ac:chgData name="Stein, Andrew" userId="fa05adcc-50f1-400a-bab7-31aa48e2f649" providerId="ADAL" clId="{3CF42407-B277-541E-B112-8FFD6DAAAE27}" dt="2026-09-22T15:39:36.417" v="1516" actId="1076"/>
          <ac:spMkLst>
            <pc:docMk/>
            <pc:sldMk cId="1680193071" sldId="256"/>
            <ac:spMk id="57" creationId="{8BDADF7D-9601-4A74-A5BD-2E827828CED4}"/>
          </ac:spMkLst>
        </pc:spChg>
        <pc:spChg chg="mod">
          <ac:chgData name="Stein, Andrew" userId="fa05adcc-50f1-400a-bab7-31aa48e2f649" providerId="ADAL" clId="{3CF42407-B277-541E-B112-8FFD6DAAAE27}" dt="2026-09-28T12:11:17.945" v="1789" actId="20577"/>
          <ac:spMkLst>
            <pc:docMk/>
            <pc:sldMk cId="1680193071" sldId="256"/>
            <ac:spMk id="58" creationId="{FC885A88-B6BF-4186-9A2B-616DC502222E}"/>
          </ac:spMkLst>
        </pc:spChg>
        <pc:spChg chg="mod">
          <ac:chgData name="Stein, Andrew" userId="fa05adcc-50f1-400a-bab7-31aa48e2f649" providerId="ADAL" clId="{3CF42407-B277-541E-B112-8FFD6DAAAE27}" dt="2026-09-22T15:39:36.417" v="1516" actId="1076"/>
          <ac:spMkLst>
            <pc:docMk/>
            <pc:sldMk cId="1680193071" sldId="256"/>
            <ac:spMk id="60" creationId="{D4E8B59F-2832-4DCE-818C-6489B3B34F66}"/>
          </ac:spMkLst>
        </pc:spChg>
        <pc:spChg chg="mod">
          <ac:chgData name="Stein, Andrew" userId="fa05adcc-50f1-400a-bab7-31aa48e2f649" providerId="ADAL" clId="{3CF42407-B277-541E-B112-8FFD6DAAAE27}" dt="2026-09-22T15:39:36.417" v="1516" actId="1076"/>
          <ac:spMkLst>
            <pc:docMk/>
            <pc:sldMk cId="1680193071" sldId="256"/>
            <ac:spMk id="61" creationId="{8F054190-530C-4421-86B8-D5B6E8050113}"/>
          </ac:spMkLst>
        </pc:spChg>
        <pc:grpChg chg="add mod">
          <ac:chgData name="Stein, Andrew" userId="fa05adcc-50f1-400a-bab7-31aa48e2f649" providerId="ADAL" clId="{3CF42407-B277-541E-B112-8FFD6DAAAE27}" dt="2026-09-28T12:08:27.546" v="1643" actId="14100"/>
          <ac:grpSpMkLst>
            <pc:docMk/>
            <pc:sldMk cId="1680193071" sldId="256"/>
            <ac:grpSpMk id="6" creationId="{80A26409-98DE-CB9F-16E9-173AF7913C84}"/>
          </ac:grpSpMkLst>
        </pc:grpChg>
        <pc:graphicFrameChg chg="modGraphic">
          <ac:chgData name="Stein, Andrew" userId="fa05adcc-50f1-400a-bab7-31aa48e2f649" providerId="ADAL" clId="{3CF42407-B277-541E-B112-8FFD6DAAAE27}" dt="2026-09-23T02:08:21.911" v="1642" actId="207"/>
          <ac:graphicFrameMkLst>
            <pc:docMk/>
            <pc:sldMk cId="1680193071" sldId="256"/>
            <ac:graphicFrameMk id="93" creationId="{00000000-0000-0000-0000-000000000000}"/>
          </ac:graphicFrameMkLst>
        </pc:graphicFrameChg>
        <pc:graphicFrameChg chg="mod modGraphic">
          <ac:chgData name="Stein, Andrew" userId="fa05adcc-50f1-400a-bab7-31aa48e2f649" providerId="ADAL" clId="{3CF42407-B277-541E-B112-8FFD6DAAAE27}" dt="2026-09-22T15:39:52.187" v="1517" actId="1076"/>
          <ac:graphicFrameMkLst>
            <pc:docMk/>
            <pc:sldMk cId="1680193071" sldId="256"/>
            <ac:graphicFrameMk id="97" creationId="{00000000-0000-0000-0000-000000000000}"/>
          </ac:graphicFrameMkLst>
        </pc:graphicFrameChg>
        <pc:graphicFrameChg chg="mod modGraphic">
          <ac:chgData name="Stein, Andrew" userId="fa05adcc-50f1-400a-bab7-31aa48e2f649" providerId="ADAL" clId="{3CF42407-B277-541E-B112-8FFD6DAAAE27}" dt="2026-09-22T15:39:52.187" v="1517" actId="1076"/>
          <ac:graphicFrameMkLst>
            <pc:docMk/>
            <pc:sldMk cId="1680193071" sldId="256"/>
            <ac:graphicFrameMk id="107" creationId="{00000000-0000-0000-0000-000000000000}"/>
          </ac:graphicFrameMkLst>
        </pc:graphicFrameChg>
        <pc:picChg chg="add mod">
          <ac:chgData name="Stein, Andrew" userId="fa05adcc-50f1-400a-bab7-31aa48e2f649" providerId="ADAL" clId="{3CF42407-B277-541E-B112-8FFD6DAAAE27}" dt="2026-09-29T10:06:26.064" v="1813" actId="1036"/>
          <ac:picMkLst>
            <pc:docMk/>
            <pc:sldMk cId="1680193071" sldId="256"/>
            <ac:picMk id="4" creationId="{28622545-EE5E-1A08-F0F8-2DCCAE161B0E}"/>
          </ac:picMkLst>
        </pc:picChg>
        <pc:picChg chg="mod">
          <ac:chgData name="Stein, Andrew" userId="fa05adcc-50f1-400a-bab7-31aa48e2f649" providerId="ADAL" clId="{3CF42407-B277-541E-B112-8FFD6DAAAE27}" dt="2026-09-22T15:40:04.562" v="1518" actId="1076"/>
          <ac:picMkLst>
            <pc:docMk/>
            <pc:sldMk cId="1680193071" sldId="256"/>
            <ac:picMk id="104" creationId="{00000000-0000-0000-0000-000000000000}"/>
          </ac:picMkLst>
        </pc:picChg>
        <pc:cxnChg chg="add 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3" creationId="{726878A4-CEE7-B67B-9C45-7BE97E157438}"/>
          </ac:cxnSpMkLst>
        </pc:cxnChg>
        <pc:cxnChg chg="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85" creationId="{00000000-0000-0000-0000-000000000000}"/>
          </ac:cxnSpMkLst>
        </pc:cxnChg>
        <pc:cxnChg chg="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86" creationId="{00000000-0000-0000-0000-000000000000}"/>
          </ac:cxnSpMkLst>
        </pc:cxnChg>
        <pc:cxnChg chg="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87" creationId="{00000000-0000-0000-0000-000000000000}"/>
          </ac:cxnSpMkLst>
        </pc:cxnChg>
        <pc:cxnChg chg="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88" creationId="{00000000-0000-0000-0000-000000000000}"/>
          </ac:cxnSpMkLst>
        </pc:cxnChg>
        <pc:cxnChg chg="mod">
          <ac:chgData name="Stein, Andrew" userId="fa05adcc-50f1-400a-bab7-31aa48e2f649" providerId="ADAL" clId="{3CF42407-B277-541E-B112-8FFD6DAAAE27}" dt="2026-09-19T09:33:19.598" v="76" actId="208"/>
          <ac:cxnSpMkLst>
            <pc:docMk/>
            <pc:sldMk cId="1680193071" sldId="256"/>
            <ac:cxnSpMk id="8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377716">
        <a:lnSpc>
          <a:spcPct val="95000"/>
        </a:lnSpc>
        <a:spcBef>
          <a:spcPct val="0"/>
        </a:spcBef>
        <a:buNone/>
        <a:defRPr sz="1239" b="1" kern="1200">
          <a:solidFill>
            <a:srgbClr val="002068"/>
          </a:solidFill>
          <a:latin typeface="+mj-lt"/>
          <a:ea typeface="+mj-lt"/>
          <a:cs typeface="+mj-lt"/>
        </a:defRPr>
      </a:lvl1pPr>
    </p:titleStyle>
    <p:bodyStyle>
      <a:lvl1pPr marL="0" indent="0" algn="l" defTabSz="377716">
        <a:lnSpc>
          <a:spcPct val="95000"/>
        </a:lnSpc>
        <a:spcBef>
          <a:spcPts val="413"/>
        </a:spcBef>
        <a:buFontTx/>
        <a:buNone/>
        <a:defRPr sz="826" b="1" kern="1200">
          <a:solidFill>
            <a:srgbClr val="0460A9"/>
          </a:solidFill>
          <a:latin typeface="+mn-lt"/>
          <a:ea typeface="+mn-lt"/>
          <a:cs typeface="+mn-lt"/>
        </a:defRPr>
      </a:lvl1pPr>
      <a:lvl2pPr marL="0" indent="0" algn="l" defTabSz="377716">
        <a:lnSpc>
          <a:spcPct val="95000"/>
        </a:lnSpc>
        <a:spcBef>
          <a:spcPts val="289"/>
        </a:spcBef>
        <a:buFontTx/>
        <a:buNone/>
        <a:defRPr sz="826" kern="1200">
          <a:solidFill>
            <a:schemeClr val="tx1"/>
          </a:solidFill>
          <a:latin typeface="+mn-lt"/>
          <a:ea typeface="+mn-lt"/>
          <a:cs typeface="+mn-lt"/>
        </a:defRPr>
      </a:lvl2pPr>
      <a:lvl3pPr marL="89224" indent="-89224" algn="l" defTabSz="377716">
        <a:lnSpc>
          <a:spcPct val="95000"/>
        </a:lnSpc>
        <a:spcBef>
          <a:spcPts val="248"/>
        </a:spcBef>
        <a:buClr>
          <a:srgbClr val="0460A9"/>
        </a:buClr>
        <a:buFont typeface="Ping LCG Medium"/>
        <a:buChar char="•"/>
        <a:defRPr sz="826" kern="1200">
          <a:solidFill>
            <a:schemeClr val="tx1"/>
          </a:solidFill>
          <a:latin typeface="+mn-lt"/>
          <a:ea typeface="+mn-lt"/>
          <a:cs typeface="+mn-lt"/>
        </a:defRPr>
      </a:lvl3pPr>
      <a:lvl4pPr marL="202629" indent="-110823" algn="l" defTabSz="377716">
        <a:lnSpc>
          <a:spcPct val="95000"/>
        </a:lnSpc>
        <a:spcBef>
          <a:spcPts val="248"/>
        </a:spcBef>
        <a:buClr>
          <a:srgbClr val="0460A9"/>
        </a:buClr>
        <a:buFont typeface="Arial"/>
        <a:buChar char="–"/>
        <a:defRPr sz="743" kern="1200">
          <a:solidFill>
            <a:schemeClr val="tx1"/>
          </a:solidFill>
          <a:latin typeface="+mn-lt"/>
          <a:ea typeface="+mn-lt"/>
          <a:cs typeface="+mn-lt"/>
        </a:defRPr>
      </a:lvl4pPr>
      <a:lvl5pPr marL="319354" indent="-114757" algn="l" defTabSz="377716">
        <a:lnSpc>
          <a:spcPct val="95000"/>
        </a:lnSpc>
        <a:spcBef>
          <a:spcPts val="248"/>
        </a:spcBef>
        <a:buClr>
          <a:srgbClr val="0460A9"/>
        </a:buClr>
        <a:buFont typeface="Arial"/>
        <a:buChar char="–"/>
        <a:defRPr sz="743" kern="1200">
          <a:solidFill>
            <a:schemeClr val="tx1"/>
          </a:solidFill>
          <a:latin typeface="+mn-lt"/>
          <a:ea typeface="+mn-lt"/>
          <a:cs typeface="+mn-lt"/>
        </a:defRPr>
      </a:lvl5pPr>
      <a:lvl6pPr marL="1038719" indent="-94430" algn="l" defTabSz="377716">
        <a:lnSpc>
          <a:spcPct val="90000"/>
        </a:lnSpc>
        <a:spcBef>
          <a:spcPts val="207"/>
        </a:spcBef>
        <a:buFont typeface="Arial"/>
        <a:buChar char="•"/>
        <a:defRPr sz="743" kern="1200">
          <a:solidFill>
            <a:schemeClr val="tx1"/>
          </a:solidFill>
          <a:latin typeface="+mn-lt"/>
          <a:ea typeface="+mn-lt"/>
          <a:cs typeface="+mn-lt"/>
        </a:defRPr>
      </a:lvl6pPr>
      <a:lvl7pPr marL="1227576" indent="-94430" algn="l" defTabSz="377716">
        <a:lnSpc>
          <a:spcPct val="90000"/>
        </a:lnSpc>
        <a:spcBef>
          <a:spcPts val="207"/>
        </a:spcBef>
        <a:buFont typeface="Arial"/>
        <a:buChar char="•"/>
        <a:defRPr sz="743" kern="1200">
          <a:solidFill>
            <a:schemeClr val="tx1"/>
          </a:solidFill>
          <a:latin typeface="+mn-lt"/>
          <a:ea typeface="+mn-lt"/>
          <a:cs typeface="+mn-lt"/>
        </a:defRPr>
      </a:lvl7pPr>
      <a:lvl8pPr marL="1416434" indent="-94430" algn="l" defTabSz="377716">
        <a:lnSpc>
          <a:spcPct val="90000"/>
        </a:lnSpc>
        <a:spcBef>
          <a:spcPts val="207"/>
        </a:spcBef>
        <a:buFont typeface="Arial"/>
        <a:buChar char="•"/>
        <a:defRPr sz="743" kern="1200">
          <a:solidFill>
            <a:schemeClr val="tx1"/>
          </a:solidFill>
          <a:latin typeface="+mn-lt"/>
          <a:ea typeface="+mn-lt"/>
          <a:cs typeface="+mn-lt"/>
        </a:defRPr>
      </a:lvl8pPr>
      <a:lvl9pPr marL="1605292" indent="-94430" algn="l" defTabSz="377716">
        <a:lnSpc>
          <a:spcPct val="90000"/>
        </a:lnSpc>
        <a:spcBef>
          <a:spcPts val="207"/>
        </a:spcBef>
        <a:buFont typeface="Arial"/>
        <a:buChar char="•"/>
        <a:defRPr sz="74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1pPr>
      <a:lvl2pPr marL="188858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2pPr>
      <a:lvl3pPr marL="377716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3pPr>
      <a:lvl4pPr marL="566573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4pPr>
      <a:lvl5pPr marL="755432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5pPr>
      <a:lvl6pPr marL="944289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6pPr>
      <a:lvl7pPr marL="1133147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7pPr>
      <a:lvl8pPr marL="1322006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8pPr>
      <a:lvl9pPr marL="1510864" algn="l" defTabSz="377716">
        <a:buNone/>
        <a:defRPr sz="74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2" pos="9830" userDrawn="1">
          <p15:clr>
            <a:srgbClr val="F26B43"/>
          </p15:clr>
        </p15:guide>
        <p15:guide id="3" orient="horz" pos="577" userDrawn="1">
          <p15:clr>
            <a:srgbClr val="F26B43"/>
          </p15:clr>
        </p15:guide>
        <p15:guide id="12" pos="18494" userDrawn="1">
          <p15:clr>
            <a:srgbClr val="F26B43"/>
          </p15:clr>
        </p15:guide>
        <p15:guide id="13" pos="577" userDrawn="1">
          <p15:clr>
            <a:srgbClr val="F26B43"/>
          </p15:clr>
        </p15:guide>
        <p15:guide id="24" orient="horz" pos="26386" userDrawn="1">
          <p15:clr>
            <a:srgbClr val="F26B43"/>
          </p15:clr>
        </p15:guide>
        <p15:guide id="26" pos="92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amstein.github.io/synpmx/articles/scorecard.html" TargetMode="External"/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hyperlink" Target="http://iamstein.github.io/synpmx" TargetMode="External"/><Relationship Id="rId4" Type="http://schemas.openxmlformats.org/officeDocument/2006/relationships/hyperlink" Target="mailto:andrew.stein@novartis.com" TargetMode="External"/><Relationship Id="rId9" Type="http://schemas.openxmlformats.org/officeDocument/2006/relationships/hyperlink" Target="http://iamstein.github.io/synpm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g object 16">
            <a:extLst>
              <a:ext uri="{FF2B5EF4-FFF2-40B4-BE49-F238E27FC236}">
                <a16:creationId xmlns:a16="http://schemas.microsoft.com/office/drawing/2014/main" id="{6B91A59D-D913-9972-3166-37BCDEF105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918400" cy="6400800"/>
          </a:xfrm>
          <a:custGeom>
            <a:avLst/>
            <a:gdLst/>
            <a:ahLst/>
            <a:cxnLst/>
            <a:rect l="l" t="t" r="r" b="b"/>
            <a:pathLst>
              <a:path w="11488420" h="3952240">
                <a:moveTo>
                  <a:pt x="11488070" y="0"/>
                </a:moveTo>
                <a:lnTo>
                  <a:pt x="0" y="0"/>
                </a:lnTo>
                <a:lnTo>
                  <a:pt x="0" y="3951680"/>
                </a:lnTo>
                <a:lnTo>
                  <a:pt x="11488070" y="3951680"/>
                </a:lnTo>
                <a:lnTo>
                  <a:pt x="114880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11" t="-811" r="-811" b="-8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anchor="t"/>
          <a:lstStyle/>
          <a:p>
            <a:pPr marL="180000" lvl="0" indent="-180000" algn="l">
              <a:spcBef>
                <a:spcPts val="800"/>
              </a:spcBef>
              <a:buFont typeface="Arial"/>
              <a:buChar char="•"/>
            </a:pPr>
            <a:endParaRPr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41B6C421-DFA5-42DD-89CD-BE93E220699D}"/>
              </a:ext>
            </a:extLst>
          </p:cNvPr>
          <p:cNvSpPr>
            <a:spLocks noGrp="1"/>
          </p:cNvSpPr>
          <p:nvPr/>
        </p:nvSpPr>
        <p:spPr>
          <a:xfrm>
            <a:off x="914400" y="594360"/>
            <a:ext cx="31089600" cy="2468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76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Enabling AI-Assisted Pharmacometric</a:t>
            </a:r>
          </a:p>
          <a:p>
            <a:pPr>
              <a:defRPr sz="7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76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Workflows Using Synthetic Data</a:t>
            </a:r>
          </a:p>
        </p:txBody>
      </p:sp>
      <p:sp>
        <p:nvSpPr>
          <p:cNvPr id="13" name="Authors">
            <a:extLst>
              <a:ext uri="{FF2B5EF4-FFF2-40B4-BE49-F238E27FC236}">
                <a16:creationId xmlns:a16="http://schemas.microsoft.com/office/drawing/2014/main" id="{51D6F171-E06E-413D-AE57-C8AFA2C56B03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22860000" cy="594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2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Andrew Stein</a:t>
            </a:r>
            <a:r>
              <a:rPr lang="en-US" sz="3200" b="0" baseline="300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Alex Pogodaev</a:t>
            </a:r>
            <a:r>
              <a:rPr lang="en-US" sz="3200" b="0" baseline="300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</a:t>
            </a:r>
            <a:endParaRPr sz="3200" b="0" baseline="300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ffiliations">
            <a:extLst>
              <a:ext uri="{FF2B5EF4-FFF2-40B4-BE49-F238E27FC236}">
                <a16:creationId xmlns:a16="http://schemas.microsoft.com/office/drawing/2014/main" id="{F9010F52-6D59-48AD-8894-1DB1C4937F63}"/>
              </a:ext>
            </a:extLst>
          </p:cNvPr>
          <p:cNvSpPr>
            <a:spLocks noGrp="1"/>
          </p:cNvSpPr>
          <p:nvPr/>
        </p:nvSpPr>
        <p:spPr>
          <a:xfrm>
            <a:off x="914400" y="3909748"/>
            <a:ext cx="22860000" cy="8769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457200" indent="-457200">
              <a:buAutoNum type="arabicPeriod"/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Novartis, Cambridge, MA, USA – </a:t>
            </a:r>
            <a:r>
              <a:rPr lang="en-US" sz="2000" dirty="0">
                <a:solidFill>
                  <a:srgbClr val="202020"/>
                </a:solidFill>
                <a:latin typeface="Arial"/>
                <a:ea typeface="Arial"/>
                <a:cs typeface="Arial"/>
                <a:hlinkClick r:id="rId4"/>
              </a:rPr>
              <a:t>a</a:t>
            </a:r>
            <a:r>
              <a:rPr lang="en-US" sz="2000" b="0" dirty="0">
                <a:solidFill>
                  <a:srgbClr val="202020"/>
                </a:solidFill>
                <a:latin typeface="Arial"/>
                <a:ea typeface="Arial"/>
                <a:cs typeface="Arial"/>
                <a:hlinkClick r:id="rId4"/>
              </a:rPr>
              <a:t>ndrew.stein@</a:t>
            </a:r>
            <a:r>
              <a:rPr lang="en-US" sz="2000" dirty="0">
                <a:solidFill>
                  <a:srgbClr val="202020"/>
                </a:solidFill>
                <a:latin typeface="Arial"/>
                <a:ea typeface="Arial"/>
                <a:cs typeface="Arial"/>
                <a:hlinkClick r:id="rId4"/>
              </a:rPr>
              <a:t>n</a:t>
            </a:r>
            <a:r>
              <a:rPr lang="en-US" sz="2000" b="0" dirty="0">
                <a:solidFill>
                  <a:srgbClr val="202020"/>
                </a:solidFill>
                <a:latin typeface="Arial"/>
                <a:ea typeface="Arial"/>
                <a:cs typeface="Arial"/>
                <a:hlinkClick r:id="rId4"/>
              </a:rPr>
              <a:t>ovartis.com</a:t>
            </a:r>
            <a:endParaRPr lang="en-US" sz="20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buAutoNum type="arabicPeriod"/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Novartis, Basel, Switzerland</a:t>
            </a:r>
            <a:endParaRPr sz="20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oster number">
            <a:extLst>
              <a:ext uri="{FF2B5EF4-FFF2-40B4-BE49-F238E27FC236}">
                <a16:creationId xmlns:a16="http://schemas.microsoft.com/office/drawing/2014/main" id="{C9C9F446-1A09-47C4-AE64-AE80D1D30FBC}"/>
              </a:ext>
            </a:extLst>
          </p:cNvPr>
          <p:cNvSpPr>
            <a:spLocks noGrp="1"/>
          </p:cNvSpPr>
          <p:nvPr/>
        </p:nvSpPr>
        <p:spPr>
          <a:xfrm>
            <a:off x="24688800" y="3246120"/>
            <a:ext cx="7315200" cy="548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Poster [number]</a:t>
            </a:r>
          </a:p>
        </p:txBody>
      </p:sp>
      <p:sp>
        <p:nvSpPr>
          <p:cNvPr id="19" name="Objective">
            <a:extLst>
              <a:ext uri="{FF2B5EF4-FFF2-40B4-BE49-F238E27FC236}">
                <a16:creationId xmlns:a16="http://schemas.microsoft.com/office/drawing/2014/main" id="{BFC7AE55-2740-4A7D-971C-90F0A4E49FC4}"/>
              </a:ext>
            </a:extLst>
          </p:cNvPr>
          <p:cNvSpPr>
            <a:spLocks noGrp="1"/>
          </p:cNvSpPr>
          <p:nvPr/>
        </p:nvSpPr>
        <p:spPr>
          <a:xfrm>
            <a:off x="914400" y="6995160"/>
            <a:ext cx="1289304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20" name="Objective copy">
            <a:extLst>
              <a:ext uri="{FF2B5EF4-FFF2-40B4-BE49-F238E27FC236}">
                <a16:creationId xmlns:a16="http://schemas.microsoft.com/office/drawing/2014/main" id="{4D3047C1-FA87-4844-828A-579E8724AC07}"/>
              </a:ext>
            </a:extLst>
          </p:cNvPr>
          <p:cNvSpPr>
            <a:spLocks noGrp="1"/>
          </p:cNvSpPr>
          <p:nvPr/>
        </p:nvSpPr>
        <p:spPr>
          <a:xfrm>
            <a:off x="914400" y="7772400"/>
            <a:ext cx="1289304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synpmx generates synthetic pharmacometric datasets for artificial intelligence (AI)-assisted code development when clinical data must remain in a secure computing environment. Synthetic data provides the columns, dosing records and observations needed to develop exploration, model-fitting and diagnostic code.</a:t>
            </a:r>
          </a:p>
        </p:txBody>
      </p:sp>
      <p:sp>
        <p:nvSpPr>
          <p:cNvPr id="21" name="Workflow">
            <a:extLst>
              <a:ext uri="{FF2B5EF4-FFF2-40B4-BE49-F238E27FC236}">
                <a16:creationId xmlns:a16="http://schemas.microsoft.com/office/drawing/2014/main" id="{8B86258F-9897-4E1E-857D-BFA77EBA3202}"/>
              </a:ext>
            </a:extLst>
          </p:cNvPr>
          <p:cNvSpPr>
            <a:spLocks noGrp="1"/>
          </p:cNvSpPr>
          <p:nvPr/>
        </p:nvSpPr>
        <p:spPr>
          <a:xfrm>
            <a:off x="914400" y="10424160"/>
            <a:ext cx="1289304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2" name="Secure environment">
            <a:extLst>
              <a:ext uri="{FF2B5EF4-FFF2-40B4-BE49-F238E27FC236}">
                <a16:creationId xmlns:a16="http://schemas.microsoft.com/office/drawing/2014/main" id="{30D7C41A-55C8-4654-B5C6-EF75DD6A7D14}"/>
              </a:ext>
            </a:extLst>
          </p:cNvPr>
          <p:cNvSpPr>
            <a:spLocks noGrp="1"/>
          </p:cNvSpPr>
          <p:nvPr/>
        </p:nvSpPr>
        <p:spPr>
          <a:xfrm>
            <a:off x="914400" y="11338560"/>
            <a:ext cx="5715000" cy="6537960"/>
          </a:xfrm>
          <a:prstGeom prst="rect">
            <a:avLst/>
          </a:prstGeom>
          <a:solidFill>
            <a:srgbClr val="F0F4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evelopment environment">
            <a:extLst>
              <a:ext uri="{FF2B5EF4-FFF2-40B4-BE49-F238E27FC236}">
                <a16:creationId xmlns:a16="http://schemas.microsoft.com/office/drawing/2014/main" id="{BF9D017A-37A6-4E83-8A83-6F2415D1F252}"/>
              </a:ext>
            </a:extLst>
          </p:cNvPr>
          <p:cNvSpPr>
            <a:spLocks noGrp="1"/>
          </p:cNvSpPr>
          <p:nvPr/>
        </p:nvSpPr>
        <p:spPr>
          <a:xfrm>
            <a:off x="8046720" y="11338560"/>
            <a:ext cx="5760720" cy="6537960"/>
          </a:xfrm>
          <a:prstGeom prst="rect">
            <a:avLst/>
          </a:prstGeom>
          <a:solidFill>
            <a:srgbClr val="FFF2E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ecure label">
            <a:extLst>
              <a:ext uri="{FF2B5EF4-FFF2-40B4-BE49-F238E27FC236}">
                <a16:creationId xmlns:a16="http://schemas.microsoft.com/office/drawing/2014/main" id="{8F34148F-720D-4D85-A98F-2DC4E44035ED}"/>
              </a:ext>
            </a:extLst>
          </p:cNvPr>
          <p:cNvSpPr>
            <a:spLocks noGrp="1"/>
          </p:cNvSpPr>
          <p:nvPr/>
        </p:nvSpPr>
        <p:spPr>
          <a:xfrm>
            <a:off x="1234440" y="11567160"/>
            <a:ext cx="5120640" cy="8686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1">
                <a:solidFill>
                  <a:srgbClr val="286491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286491"/>
                </a:solidFill>
                <a:latin typeface="Arial"/>
                <a:ea typeface="Arial"/>
                <a:cs typeface="Arial"/>
              </a:rPr>
              <a:t>Secure clinical-data</a:t>
            </a:r>
          </a:p>
          <a:p>
            <a:pPr>
              <a:defRPr sz="2600" b="1">
                <a:solidFill>
                  <a:srgbClr val="286491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286491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5" name="Development label">
            <a:extLst>
              <a:ext uri="{FF2B5EF4-FFF2-40B4-BE49-F238E27FC236}">
                <a16:creationId xmlns:a16="http://schemas.microsoft.com/office/drawing/2014/main" id="{9DCB740A-22C3-4680-894F-914D4BDFA6B5}"/>
              </a:ext>
            </a:extLst>
          </p:cNvPr>
          <p:cNvSpPr>
            <a:spLocks noGrp="1"/>
          </p:cNvSpPr>
          <p:nvPr/>
        </p:nvSpPr>
        <p:spPr>
          <a:xfrm>
            <a:off x="8321040" y="11567160"/>
            <a:ext cx="5212080" cy="8686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2600" b="1" dirty="0">
                <a:solidFill>
                  <a:srgbClr val="CF4500"/>
                </a:solidFill>
                <a:latin typeface="Arial"/>
                <a:ea typeface="Arial"/>
                <a:cs typeface="Arial"/>
              </a:rPr>
              <a:t>AI-enabled development</a:t>
            </a:r>
          </a:p>
          <a:p>
            <a:pPr>
              <a:defRPr sz="26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2600" b="1" dirty="0">
                <a:solidFill>
                  <a:srgbClr val="CF45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6" name="Real clinical data">
            <a:extLst>
              <a:ext uri="{FF2B5EF4-FFF2-40B4-BE49-F238E27FC236}">
                <a16:creationId xmlns:a16="http://schemas.microsoft.com/office/drawing/2014/main" id="{8D4AF37A-164C-46E1-BC52-201EB7132122}"/>
              </a:ext>
            </a:extLst>
          </p:cNvPr>
          <p:cNvSpPr>
            <a:spLocks noGrp="1"/>
          </p:cNvSpPr>
          <p:nvPr/>
        </p:nvSpPr>
        <p:spPr>
          <a:xfrm>
            <a:off x="1417320" y="12664440"/>
            <a:ext cx="4709160" cy="731520"/>
          </a:xfrm>
          <a:prstGeom prst="rect">
            <a:avLst/>
          </a:prstGeom>
          <a:solidFill>
            <a:srgbClr val="DCEAF5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Real clinical data</a:t>
            </a:r>
          </a:p>
        </p:txBody>
      </p:sp>
      <p:sp>
        <p:nvSpPr>
          <p:cNvPr id="27" name="Generate">
            <a:extLst>
              <a:ext uri="{FF2B5EF4-FFF2-40B4-BE49-F238E27FC236}">
                <a16:creationId xmlns:a16="http://schemas.microsoft.com/office/drawing/2014/main" id="{56A9DCDC-36BB-431C-90D7-5EB1B2D3BB00}"/>
              </a:ext>
            </a:extLst>
          </p:cNvPr>
          <p:cNvSpPr>
            <a:spLocks noGrp="1"/>
          </p:cNvSpPr>
          <p:nvPr/>
        </p:nvSpPr>
        <p:spPr>
          <a:xfrm>
            <a:off x="1417320" y="13743432"/>
            <a:ext cx="4709160" cy="960120"/>
          </a:xfrm>
          <a:prstGeom prst="rect">
            <a:avLst/>
          </a:prstGeom>
          <a:solidFill>
            <a:srgbClr val="FFFFFF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Generate 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data </a:t>
            </a:r>
          </a:p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with synpmx</a:t>
            </a:r>
          </a:p>
        </p:txBody>
      </p:sp>
      <p:sp>
        <p:nvSpPr>
          <p:cNvPr id="28" name="Review">
            <a:extLst>
              <a:ext uri="{FF2B5EF4-FFF2-40B4-BE49-F238E27FC236}">
                <a16:creationId xmlns:a16="http://schemas.microsoft.com/office/drawing/2014/main" id="{D71E4934-A988-4B37-A97D-BF50467F7301}"/>
              </a:ext>
            </a:extLst>
          </p:cNvPr>
          <p:cNvSpPr>
            <a:spLocks noGrp="1"/>
          </p:cNvSpPr>
          <p:nvPr/>
        </p:nvSpPr>
        <p:spPr>
          <a:xfrm>
            <a:off x="1417320" y="15105888"/>
            <a:ext cx="4709160" cy="960120"/>
          </a:xfrm>
          <a:prstGeom prst="rect">
            <a:avLst/>
          </a:prstGeom>
          <a:solidFill>
            <a:srgbClr val="FFFFFF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Review</a:t>
            </a: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synthetic data</a:t>
            </a:r>
          </a:p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 release</a:t>
            </a:r>
          </a:p>
        </p:txBody>
      </p:sp>
      <p:sp>
        <p:nvSpPr>
          <p:cNvPr id="29" name="Validate">
            <a:extLst>
              <a:ext uri="{FF2B5EF4-FFF2-40B4-BE49-F238E27FC236}">
                <a16:creationId xmlns:a16="http://schemas.microsoft.com/office/drawing/2014/main" id="{3B650A4A-C118-4066-B5CF-119569810F68}"/>
              </a:ext>
            </a:extLst>
          </p:cNvPr>
          <p:cNvSpPr>
            <a:spLocks noGrp="1"/>
          </p:cNvSpPr>
          <p:nvPr/>
        </p:nvSpPr>
        <p:spPr>
          <a:xfrm>
            <a:off x="1417320" y="16578072"/>
            <a:ext cx="4709160" cy="960120"/>
          </a:xfrm>
          <a:prstGeom prst="rect">
            <a:avLst/>
          </a:prstGeom>
          <a:solidFill>
            <a:srgbClr val="E0EFDF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02020"/>
                </a:solidFill>
                <a:latin typeface="Arial"/>
                <a:ea typeface="Arial"/>
                <a:cs typeface="Arial"/>
              </a:rPr>
              <a:t>Run code on real data</a:t>
            </a:r>
          </a:p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02020"/>
                </a:solidFill>
                <a:latin typeface="Arial"/>
                <a:ea typeface="Arial"/>
                <a:cs typeface="Arial"/>
              </a:rPr>
              <a:t>Validate and interpret</a:t>
            </a:r>
          </a:p>
        </p:txBody>
      </p:sp>
      <p:sp>
        <p:nvSpPr>
          <p:cNvPr id="30" name="Approved synthetic data">
            <a:extLst>
              <a:ext uri="{FF2B5EF4-FFF2-40B4-BE49-F238E27FC236}">
                <a16:creationId xmlns:a16="http://schemas.microsoft.com/office/drawing/2014/main" id="{E5F470C0-1B79-4C15-BB68-B243641F165C}"/>
              </a:ext>
            </a:extLst>
          </p:cNvPr>
          <p:cNvSpPr>
            <a:spLocks noGrp="1"/>
          </p:cNvSpPr>
          <p:nvPr/>
        </p:nvSpPr>
        <p:spPr>
          <a:xfrm>
            <a:off x="8595360" y="15105888"/>
            <a:ext cx="4709160" cy="960120"/>
          </a:xfrm>
          <a:prstGeom prst="rect">
            <a:avLst/>
          </a:prstGeom>
          <a:solidFill>
            <a:srgbClr val="DCEAF5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Approved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data</a:t>
            </a:r>
          </a:p>
        </p:txBody>
      </p:sp>
      <p:sp>
        <p:nvSpPr>
          <p:cNvPr id="31" name="Develop analysis code">
            <a:extLst>
              <a:ext uri="{FF2B5EF4-FFF2-40B4-BE49-F238E27FC236}">
                <a16:creationId xmlns:a16="http://schemas.microsoft.com/office/drawing/2014/main" id="{FF2F59E7-0529-420A-9406-B10E19EDD4CB}"/>
              </a:ext>
            </a:extLst>
          </p:cNvPr>
          <p:cNvSpPr>
            <a:spLocks noGrp="1"/>
          </p:cNvSpPr>
          <p:nvPr/>
        </p:nvSpPr>
        <p:spPr>
          <a:xfrm>
            <a:off x="8595360" y="16578072"/>
            <a:ext cx="4709160" cy="960120"/>
          </a:xfrm>
          <a:prstGeom prst="rect">
            <a:avLst/>
          </a:prstGeom>
          <a:solidFill>
            <a:srgbClr val="FFFFFF"/>
          </a:solidFill>
          <a:ln w="14288">
            <a:solidFill>
              <a:srgbClr val="81909C"/>
            </a:solidFill>
          </a:ln>
        </p:spPr>
        <p:txBody>
          <a:bodyPr anchor="ctr">
            <a:noAutofit/>
          </a:bodyPr>
          <a:lstStyle/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02020"/>
                </a:solidFill>
                <a:latin typeface="Arial"/>
                <a:ea typeface="Arial"/>
                <a:cs typeface="Arial"/>
              </a:rPr>
              <a:t>Develop and debug code</a:t>
            </a:r>
          </a:p>
          <a:p>
            <a:pPr algn="ctr">
              <a:defRPr sz="24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02020"/>
                </a:solidFill>
                <a:latin typeface="Arial"/>
                <a:ea typeface="Arial"/>
                <a:cs typeface="Arial"/>
              </a:rPr>
              <a:t>with AI assistance</a:t>
            </a:r>
          </a:p>
        </p:txBody>
      </p:sp>
      <p:cxnSp>
        <p:nvCxnSpPr>
          <p:cNvPr id="85" name="Straight Arrow Connector 84"/>
          <p:cNvCxnSpPr>
            <a:stCxn id="26" idx="2"/>
            <a:endCxn id="27" idx="0"/>
          </p:cNvCxnSpPr>
          <p:nvPr/>
        </p:nvCxnSpPr>
        <p:spPr>
          <a:xfrm>
            <a:off x="3771900" y="13395960"/>
            <a:ext cx="0" cy="347472"/>
          </a:xfrm>
          <a:prstGeom prst="straightConnector1">
            <a:avLst/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7" idx="2"/>
            <a:endCxn id="28" idx="0"/>
          </p:cNvCxnSpPr>
          <p:nvPr/>
        </p:nvCxnSpPr>
        <p:spPr>
          <a:xfrm>
            <a:off x="3771900" y="14703552"/>
            <a:ext cx="0" cy="402336"/>
          </a:xfrm>
          <a:prstGeom prst="straightConnector1">
            <a:avLst/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28" idx="3"/>
            <a:endCxn id="30" idx="1"/>
          </p:cNvCxnSpPr>
          <p:nvPr/>
        </p:nvCxnSpPr>
        <p:spPr>
          <a:xfrm>
            <a:off x="6126480" y="15585948"/>
            <a:ext cx="2468880" cy="0"/>
          </a:xfrm>
          <a:prstGeom prst="straightConnector1">
            <a:avLst/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0" idx="2"/>
            <a:endCxn id="31" idx="0"/>
          </p:cNvCxnSpPr>
          <p:nvPr/>
        </p:nvCxnSpPr>
        <p:spPr>
          <a:xfrm>
            <a:off x="10949940" y="16066008"/>
            <a:ext cx="0" cy="512064"/>
          </a:xfrm>
          <a:prstGeom prst="straightConnector1">
            <a:avLst/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31" idx="1"/>
            <a:endCxn id="29" idx="3"/>
          </p:cNvCxnSpPr>
          <p:nvPr/>
        </p:nvCxnSpPr>
        <p:spPr>
          <a:xfrm flipH="1">
            <a:off x="6126480" y="17058132"/>
            <a:ext cx="2468880" cy="0"/>
          </a:xfrm>
          <a:prstGeom prst="straightConnector1">
            <a:avLst/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utgoing label">
            <a:extLst>
              <a:ext uri="{FF2B5EF4-FFF2-40B4-BE49-F238E27FC236}">
                <a16:creationId xmlns:a16="http://schemas.microsoft.com/office/drawing/2014/main" id="{117E4184-7C3A-4999-B890-A8CEAE9FA862}"/>
              </a:ext>
            </a:extLst>
          </p:cNvPr>
          <p:cNvSpPr>
            <a:spLocks noGrp="1"/>
          </p:cNvSpPr>
          <p:nvPr/>
        </p:nvSpPr>
        <p:spPr>
          <a:xfrm>
            <a:off x="6652260" y="15115032"/>
            <a:ext cx="1394460" cy="5029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25252"/>
                </a:solidFill>
                <a:latin typeface="Arial"/>
                <a:ea typeface="Arial"/>
                <a:cs typeface="Arial"/>
              </a:rPr>
              <a:t>Data out</a:t>
            </a:r>
          </a:p>
        </p:txBody>
      </p:sp>
      <p:sp>
        <p:nvSpPr>
          <p:cNvPr id="39" name="Incoming label">
            <a:extLst>
              <a:ext uri="{FF2B5EF4-FFF2-40B4-BE49-F238E27FC236}">
                <a16:creationId xmlns:a16="http://schemas.microsoft.com/office/drawing/2014/main" id="{091645AC-40AE-4D68-833B-94F02FFBFC34}"/>
              </a:ext>
            </a:extLst>
          </p:cNvPr>
          <p:cNvSpPr>
            <a:spLocks noGrp="1"/>
          </p:cNvSpPr>
          <p:nvPr/>
        </p:nvSpPr>
        <p:spPr>
          <a:xfrm>
            <a:off x="6515100" y="16589502"/>
            <a:ext cx="224028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Code back</a:t>
            </a:r>
          </a:p>
        </p:txBody>
      </p:sp>
      <p:sp>
        <p:nvSpPr>
          <p:cNvPr id="40" name="Selected Methods">
            <a:extLst>
              <a:ext uri="{FF2B5EF4-FFF2-40B4-BE49-F238E27FC236}">
                <a16:creationId xmlns:a16="http://schemas.microsoft.com/office/drawing/2014/main" id="{74411B0D-421D-4BFC-8262-79E212EC9B21}"/>
              </a:ext>
            </a:extLst>
          </p:cNvPr>
          <p:cNvSpPr>
            <a:spLocks noGrp="1"/>
          </p:cNvSpPr>
          <p:nvPr/>
        </p:nvSpPr>
        <p:spPr>
          <a:xfrm>
            <a:off x="914400" y="18425160"/>
            <a:ext cx="1289304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SELECTED METHODS</a:t>
            </a:r>
          </a:p>
        </p:txBody>
      </p:sp>
      <p:graphicFrame>
        <p:nvGraphicFramePr>
          <p:cNvPr id="93" name="Table 92"/>
          <p:cNvGraphicFramePr/>
          <p:nvPr>
            <p:extLst>
              <p:ext uri="{D42A27DB-BD31-4B8C-83A1-F6EECF244321}">
                <p14:modId xmlns:p14="http://schemas.microsoft.com/office/powerpoint/2010/main" val="3514085069"/>
              </p:ext>
            </p:extLst>
          </p:nvPr>
        </p:nvGraphicFramePr>
        <p:xfrm>
          <a:off x="914400" y="19229832"/>
          <a:ext cx="12893041" cy="5532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1">
                  <a:extLst>
                    <a:ext uri="{9D8B030D-6E8A-4147-A177-3AD203B41FA5}">
                      <a16:colId xmlns:a16="http://schemas.microsoft.com/office/drawing/2014/main" val="2278788438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Function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Generation and specification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Formal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Privacy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Reportable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Fingerprint</a:t>
                      </a:r>
                      <a:endParaRPr sz="2400" b="1" dirty="0">
                        <a:solidFill>
                          <a:srgbClr val="20202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synpmx_prior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Simulate a public model and trial design.</a:t>
                      </a:r>
                    </a:p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Requires a public model and study design.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5392BE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sz="2400" b="1" dirty="0">
                        <a:solidFill>
                          <a:srgbClr val="5392B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5392BE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sz="2400" b="1" dirty="0">
                        <a:solidFill>
                          <a:srgbClr val="5392B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synpmx_model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Fit longitudinal pharmacokinetic (PK) and pharmacodynamic (PD) models.</a:t>
                      </a:r>
                    </a:p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Requires column roles and nominal times.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F450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sz="2400" b="1" dirty="0">
                        <a:solidFill>
                          <a:srgbClr val="CF450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5392BE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sz="2400" b="1" dirty="0">
                        <a:solidFill>
                          <a:srgbClr val="5392B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synpmx_avatar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Blend similar patient profiles, inspired by AVATAR [1].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Requires column roles. Nominal times recommended.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F450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sz="2400" b="1" dirty="0">
                        <a:solidFill>
                          <a:srgbClr val="CF450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F450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sz="2400" b="1" dirty="0">
                        <a:solidFill>
                          <a:srgbClr val="CF450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Fingerprint explanation">
            <a:extLst>
              <a:ext uri="{FF2B5EF4-FFF2-40B4-BE49-F238E27FC236}">
                <a16:creationId xmlns:a16="http://schemas.microsoft.com/office/drawing/2014/main" id="{93589E9A-2C25-4ED2-98EE-C4107BD68174}"/>
              </a:ext>
            </a:extLst>
          </p:cNvPr>
          <p:cNvSpPr>
            <a:spLocks noGrp="1"/>
          </p:cNvSpPr>
          <p:nvPr/>
        </p:nvSpPr>
        <p:spPr>
          <a:xfrm>
            <a:off x="914400" y="25008840"/>
            <a:ext cx="1289304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reportable fingerprint is a compact model-and-parameter representation that generates synthetic data without retaining source patient profiles.</a:t>
            </a:r>
            <a:endParaRPr lang="en-US" sz="2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2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Deep learning methods [2] are outside scope because learned weights lack a compact, interpretable fingerprint and methods are difficult to explain to those responsible for data privacy. Other methods provide differential privacy, but noise reduced fidelity in the small-study settings.</a:t>
            </a: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2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itted-Model Generator">
            <a:extLst>
              <a:ext uri="{FF2B5EF4-FFF2-40B4-BE49-F238E27FC236}">
                <a16:creationId xmlns:a16="http://schemas.microsoft.com/office/drawing/2014/main" id="{7E676F2F-487B-4BCF-92F9-F40E6A349654}"/>
              </a:ext>
            </a:extLst>
          </p:cNvPr>
          <p:cNvSpPr>
            <a:spLocks noGrp="1"/>
          </p:cNvSpPr>
          <p:nvPr/>
        </p:nvSpPr>
        <p:spPr>
          <a:xfrm>
            <a:off x="914400" y="27916632"/>
            <a:ext cx="1289304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FITTED-MODEL GENERATOR</a:t>
            </a:r>
          </a:p>
        </p:txBody>
      </p:sp>
      <p:sp>
        <p:nvSpPr>
          <p:cNvPr id="44" name="Algorithm function">
            <a:extLst>
              <a:ext uri="{FF2B5EF4-FFF2-40B4-BE49-F238E27FC236}">
                <a16:creationId xmlns:a16="http://schemas.microsoft.com/office/drawing/2014/main" id="{98F60FE5-4375-4176-893D-E081086F3D7E}"/>
              </a:ext>
            </a:extLst>
          </p:cNvPr>
          <p:cNvSpPr>
            <a:spLocks noGrp="1"/>
          </p:cNvSpPr>
          <p:nvPr/>
        </p:nvSpPr>
        <p:spPr>
          <a:xfrm>
            <a:off x="914400" y="28657296"/>
            <a:ext cx="12893040" cy="5029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600" b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synpmx_model</a:t>
            </a:r>
            <a:r>
              <a:rPr sz="26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</a:t>
            </a:r>
          </a:p>
        </p:txBody>
      </p:sp>
      <p:graphicFrame>
        <p:nvGraphicFramePr>
          <p:cNvPr id="97" name="Table 96"/>
          <p:cNvGraphicFramePr/>
          <p:nvPr>
            <p:extLst>
              <p:ext uri="{D42A27DB-BD31-4B8C-83A1-F6EECF244321}">
                <p14:modId xmlns:p14="http://schemas.microsoft.com/office/powerpoint/2010/main" val="3810804299"/>
              </p:ext>
            </p:extLst>
          </p:nvPr>
        </p:nvGraphicFramePr>
        <p:xfrm>
          <a:off x="914400" y="29324808"/>
          <a:ext cx="12893040" cy="9418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Disclosure</a:t>
                      </a:r>
                    </a:p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safeguards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Generate new identifiers. Drop columns without defined roles and 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cohorts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with fewer than 3 patients. Exclude categorical levels held by fewer than 3 patients and sample remaining levels. Threshold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(n) for cohorts and categorical levels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are configurable.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Estimate constant per-cycle probabilities within each 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cohort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for skipped cycles, dose reductions and discontinuation. Simulate schedules from these probabilities.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Observations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Estimate attendance probabilities within each 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cohort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, endpoint and nominal visit. Simulate missed observations.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Population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Fit two compartment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model 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with nlmixr2 first. Fall back to one compartment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model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if convergence or generation checks fail. Users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have the option to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specify a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For continuous observations: 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Fit constant, linear or exponential time courses with subject variability and residual error. Pool arms by default. Use </a:t>
                      </a:r>
                      <a:r>
                        <a:rPr sz="2400" b="0" dirty="0" err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pd_by_arm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= TRUE 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to fit each arm separately. </a:t>
                      </a:r>
                    </a:p>
                    <a:p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For discrete observations: s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ample by arm and 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by 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nominal visit.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Limits of</a:t>
                      </a:r>
                    </a:p>
                    <a:p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uantification</a:t>
                      </a:r>
                      <a:r>
                        <a:rPr lang="en-US"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 (LOQ)</a:t>
                      </a:r>
                      <a:endParaRPr sz="2400" b="0" dirty="0">
                        <a:solidFill>
                          <a:srgbClr val="20202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Apply declared censoring limits. Otherwise, for predominantly positive continuous endpoints, use half the smallest positive observation as a heuristic lower bound.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Worked Example">
            <a:extLst>
              <a:ext uri="{FF2B5EF4-FFF2-40B4-BE49-F238E27FC236}">
                <a16:creationId xmlns:a16="http://schemas.microsoft.com/office/drawing/2014/main" id="{469C6F6D-FC76-4730-8A97-89EC54569FA5}"/>
              </a:ext>
            </a:extLst>
          </p:cNvPr>
          <p:cNvSpPr>
            <a:spLocks noGrp="1"/>
          </p:cNvSpPr>
          <p:nvPr/>
        </p:nvSpPr>
        <p:spPr>
          <a:xfrm>
            <a:off x="14630400" y="6995160"/>
            <a:ext cx="1737360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 dirty="0">
                <a:solidFill>
                  <a:srgbClr val="CF4500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47" name="Example introduction">
            <a:extLst>
              <a:ext uri="{FF2B5EF4-FFF2-40B4-BE49-F238E27FC236}">
                <a16:creationId xmlns:a16="http://schemas.microsoft.com/office/drawing/2014/main" id="{9E755767-2F25-44CE-ACED-1764D1F2C276}"/>
              </a:ext>
            </a:extLst>
          </p:cNvPr>
          <p:cNvSpPr>
            <a:spLocks noGrp="1"/>
          </p:cNvSpPr>
          <p:nvPr/>
        </p:nvSpPr>
        <p:spPr>
          <a:xfrm>
            <a:off x="14630400" y="7772400"/>
            <a:ext cx="17373600" cy="120700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Public </a:t>
            </a:r>
            <a:r>
              <a:rPr sz="26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xgxr</a:t>
            </a:r>
            <a:r>
              <a:rPr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::mad </a:t>
            </a:r>
            <a:r>
              <a:rPr lang="en-US"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simulated </a:t>
            </a:r>
            <a:r>
              <a:rPr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data combines PK concentrations with continuous, ordinal, count and binary PD endpoints. </a:t>
            </a:r>
            <a:r>
              <a:rPr lang="en-US"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PK and continuous PD are shown.  </a:t>
            </a:r>
            <a:r>
              <a:rPr sz="26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Blue shows source data and orange shows synthetic data.</a:t>
            </a:r>
          </a:p>
        </p:txBody>
      </p:sp>
      <p:pic>
        <p:nvPicPr>
          <p:cNvPr id="100" name="Graphic 9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4630400" y="9171432"/>
            <a:ext cx="17373600" cy="6756400"/>
          </a:xfrm>
          <a:prstGeom prst="rect">
            <a:avLst/>
          </a:prstGeom>
        </p:spPr>
      </p:pic>
      <p:sp>
        <p:nvSpPr>
          <p:cNvPr id="49" name="PK caption">
            <a:extLst>
              <a:ext uri="{FF2B5EF4-FFF2-40B4-BE49-F238E27FC236}">
                <a16:creationId xmlns:a16="http://schemas.microsoft.com/office/drawing/2014/main" id="{C56566CC-E4C0-461B-BD85-0335EBA9A906}"/>
              </a:ext>
            </a:extLst>
          </p:cNvPr>
          <p:cNvSpPr>
            <a:spLocks noGrp="1"/>
          </p:cNvSpPr>
          <p:nvPr/>
        </p:nvSpPr>
        <p:spPr>
          <a:xfrm>
            <a:off x="14630400" y="16093440"/>
            <a:ext cx="17373600" cy="1005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Figure 3a. The two-compartment model reproduces the peak and biphasic decline over the first dosing interval.</a:t>
            </a:r>
          </a:p>
        </p:txBody>
      </p:sp>
      <p:pic>
        <p:nvPicPr>
          <p:cNvPr id="102" name="Graphic 10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4630400" y="17437608"/>
            <a:ext cx="17373600" cy="6756400"/>
          </a:xfrm>
          <a:prstGeom prst="rect">
            <a:avLst/>
          </a:prstGeom>
        </p:spPr>
      </p:pic>
      <p:sp>
        <p:nvSpPr>
          <p:cNvPr id="51" name="PD caption">
            <a:extLst>
              <a:ext uri="{FF2B5EF4-FFF2-40B4-BE49-F238E27FC236}">
                <a16:creationId xmlns:a16="http://schemas.microsoft.com/office/drawing/2014/main" id="{EE0EF4ED-118D-49DE-9185-2399E0664556}"/>
              </a:ext>
            </a:extLst>
          </p:cNvPr>
          <p:cNvSpPr>
            <a:spLocks noGrp="1"/>
          </p:cNvSpPr>
          <p:nvPr/>
        </p:nvSpPr>
        <p:spPr>
          <a:xfrm>
            <a:off x="14630400" y="24377904"/>
            <a:ext cx="17373600" cy="102412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Figure 3b. Pooling removes between-arm response differences. Use </a:t>
            </a:r>
            <a:r>
              <a:rPr sz="2400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pd_by_arm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= TRUE to fit separate time courses by arm.</a:t>
            </a:r>
          </a:p>
        </p:txBody>
      </p:sp>
      <p:pic>
        <p:nvPicPr>
          <p:cNvPr id="104" name="Graphic 10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4630400" y="26074116"/>
            <a:ext cx="17373600" cy="4343400"/>
          </a:xfrm>
          <a:prstGeom prst="rect">
            <a:avLst/>
          </a:prstGeom>
        </p:spPr>
      </p:pic>
      <p:sp>
        <p:nvSpPr>
          <p:cNvPr id="53" name="Distribution caption">
            <a:extLst>
              <a:ext uri="{FF2B5EF4-FFF2-40B4-BE49-F238E27FC236}">
                <a16:creationId xmlns:a16="http://schemas.microsoft.com/office/drawing/2014/main" id="{B1522EB7-EA3F-45DB-88E6-89BCF60552C1}"/>
              </a:ext>
            </a:extLst>
          </p:cNvPr>
          <p:cNvSpPr>
            <a:spLocks noGrp="1"/>
          </p:cNvSpPr>
          <p:nvPr/>
        </p:nvSpPr>
        <p:spPr>
          <a:xfrm>
            <a:off x="14630400" y="30343158"/>
            <a:ext cx="17373600" cy="1325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Figure 3c.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Comparison shows similar 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distributions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for real and synthetic data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scorecard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is also used to 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synthetic data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structure, distribution and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disclosure of rare patient characteristics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  <a:hlinkClick r:id="rId8"/>
              </a:rPr>
              <a:t>iamstein.github.io/synpmx/articles/scorecard.html</a:t>
            </a:r>
            <a:endParaRPr lang="en-US" sz="2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2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Datasets Evaluated">
            <a:extLst>
              <a:ext uri="{FF2B5EF4-FFF2-40B4-BE49-F238E27FC236}">
                <a16:creationId xmlns:a16="http://schemas.microsoft.com/office/drawing/2014/main" id="{096434BE-6F9C-4810-9D65-53ED8CB19696}"/>
              </a:ext>
            </a:extLst>
          </p:cNvPr>
          <p:cNvSpPr>
            <a:spLocks noGrp="1"/>
          </p:cNvSpPr>
          <p:nvPr/>
        </p:nvSpPr>
        <p:spPr>
          <a:xfrm>
            <a:off x="14630400" y="32905890"/>
            <a:ext cx="1737360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DATASETS EVALUATED</a:t>
            </a:r>
          </a:p>
        </p:txBody>
      </p:sp>
      <p:graphicFrame>
        <p:nvGraphicFramePr>
          <p:cNvPr id="107" name="Table 106"/>
          <p:cNvGraphicFramePr/>
          <p:nvPr>
            <p:extLst>
              <p:ext uri="{D42A27DB-BD31-4B8C-83A1-F6EECF244321}">
                <p14:modId xmlns:p14="http://schemas.microsoft.com/office/powerpoint/2010/main" val="2089831097"/>
              </p:ext>
            </p:extLst>
          </p:nvPr>
        </p:nvGraphicFramePr>
        <p:xfrm>
          <a:off x="14630400" y="33673986"/>
          <a:ext cx="17373600" cy="502920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Patients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Design feature</a:t>
                      </a:r>
                    </a:p>
                  </a:txBody>
                  <a:tcPr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case1_pkpd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180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Multiple arms; censored concentrations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60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Multiple doses; mixed endpoint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warfarin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32 (actual)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Single oral dose; delayed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wbcSim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45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Infusions; white-cell nadir and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mavoglurant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120 (actual)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Repeated occasions;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theo_md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12 (actual + 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Repeated oral doses; small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nimoData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12 (actual)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Weekly infusions; small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pheno_sd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59 (actual)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Neonatal care; sparse, irregular 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mixroute_sim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90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Intravenous and subcutaneous dosing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onc_sim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200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Trough sampling; tumor response; dose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6" name="Footer band">
            <a:extLst>
              <a:ext uri="{FF2B5EF4-FFF2-40B4-BE49-F238E27FC236}">
                <a16:creationId xmlns:a16="http://schemas.microsoft.com/office/drawing/2014/main" id="{B4D8E939-5088-4AB1-9EBD-0481A77161C8}"/>
              </a:ext>
            </a:extLst>
          </p:cNvPr>
          <p:cNvSpPr>
            <a:spLocks noGrp="1"/>
          </p:cNvSpPr>
          <p:nvPr/>
        </p:nvSpPr>
        <p:spPr>
          <a:xfrm>
            <a:off x="914400" y="39776400"/>
            <a:ext cx="31089600" cy="371348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Availability and Disclosures">
            <a:extLst>
              <a:ext uri="{FF2B5EF4-FFF2-40B4-BE49-F238E27FC236}">
                <a16:creationId xmlns:a16="http://schemas.microsoft.com/office/drawing/2014/main" id="{8BDADF7D-9601-4A74-A5BD-2E827828CED4}"/>
              </a:ext>
            </a:extLst>
          </p:cNvPr>
          <p:cNvSpPr>
            <a:spLocks noGrp="1"/>
          </p:cNvSpPr>
          <p:nvPr/>
        </p:nvSpPr>
        <p:spPr>
          <a:xfrm>
            <a:off x="1188720" y="40023288"/>
            <a:ext cx="1476756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AVAILABILITY AND DISCLOSURES</a:t>
            </a:r>
          </a:p>
        </p:txBody>
      </p:sp>
      <p:sp>
        <p:nvSpPr>
          <p:cNvPr id="58" name="Availability">
            <a:extLst>
              <a:ext uri="{FF2B5EF4-FFF2-40B4-BE49-F238E27FC236}">
                <a16:creationId xmlns:a16="http://schemas.microsoft.com/office/drawing/2014/main" id="{FC885A88-B6BF-4186-9A2B-616DC502222E}"/>
              </a:ext>
            </a:extLst>
          </p:cNvPr>
          <p:cNvSpPr>
            <a:spLocks noGrp="1"/>
          </p:cNvSpPr>
          <p:nvPr/>
        </p:nvSpPr>
        <p:spPr>
          <a:xfrm>
            <a:off x="1188720" y="40763952"/>
            <a:ext cx="14721840" cy="23317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 package prototype, source code and worked examples: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>
                <a:solidFill>
                  <a:srgbClr val="0070C0"/>
                </a:solidFill>
                <a:latin typeface="Arial"/>
                <a:ea typeface="Arial"/>
                <a:cs typeface="Arial"/>
                <a:hlinkClick r:id="rId9"/>
              </a:rPr>
              <a:t>iamstein.github.io/synpmx/</a:t>
            </a:r>
            <a:endParaRPr sz="2400" b="0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24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Internal discussions on use are ongoing.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Further work is needed to develop safeguards against membership inference from reported model parameters.</a:t>
            </a: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US" sz="240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Package 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written by ChatGPT and Claude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; 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not yet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ormally </a:t>
            </a:r>
            <a:r>
              <a:rPr lang="en-US"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validated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. Establishing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criteria for</a:t>
            </a:r>
            <a:r>
              <a:rPr sz="24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validation is a next step.</a:t>
            </a:r>
            <a:r>
              <a:rPr lang="en-US" sz="24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authors reviewed and edited content and take full responsibility for this publication.</a:t>
            </a:r>
          </a:p>
        </p:txBody>
      </p:sp>
      <p:sp>
        <p:nvSpPr>
          <p:cNvPr id="60" name="References">
            <a:extLst>
              <a:ext uri="{FF2B5EF4-FFF2-40B4-BE49-F238E27FC236}">
                <a16:creationId xmlns:a16="http://schemas.microsoft.com/office/drawing/2014/main" id="{D4E8B59F-2832-4DCE-818C-6489B3B34F66}"/>
              </a:ext>
            </a:extLst>
          </p:cNvPr>
          <p:cNvSpPr>
            <a:spLocks noGrp="1"/>
          </p:cNvSpPr>
          <p:nvPr/>
        </p:nvSpPr>
        <p:spPr>
          <a:xfrm>
            <a:off x="16596360" y="40023288"/>
            <a:ext cx="15133320" cy="60350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00" b="1">
                <a:solidFill>
                  <a:srgbClr val="CF450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CF450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61" name="References">
            <a:extLst>
              <a:ext uri="{FF2B5EF4-FFF2-40B4-BE49-F238E27FC236}">
                <a16:creationId xmlns:a16="http://schemas.microsoft.com/office/drawing/2014/main" id="{8F054190-530C-4421-86B8-D5B6E8050113}"/>
              </a:ext>
            </a:extLst>
          </p:cNvPr>
          <p:cNvSpPr>
            <a:spLocks noGrp="1"/>
          </p:cNvSpPr>
          <p:nvPr/>
        </p:nvSpPr>
        <p:spPr>
          <a:xfrm>
            <a:off x="16596360" y="40763952"/>
            <a:ext cx="15133320" cy="3246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Destere A, Lombardi R, Labriffe M, et al. Can synthetic data overcome the privacy and fidelity bottleneck in Pharmacometrics? A comparative benchmark using a daptomycin population pharmacokinetic model. medRxiv [preprint]. 2026. doi:10.64898/2026.05.30.26354512.</a:t>
            </a:r>
          </a:p>
          <a:p>
            <a:endParaRPr sz="2400" b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Jiang Y, García-Durán A, Bachali Losada I, Girard P, Terranova N. Generative models for synthetic data generation: application to pharmacokinetic/pharmacodynamic data. J Pharmacokinet Pharmacodyn. 2024;51:877–885. doi:10.1007/s10928-024-09935-6.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726878A4-CEE7-B67B-9C45-7BE97E157438}"/>
              </a:ext>
            </a:extLst>
          </p:cNvPr>
          <p:cNvCxnSpPr>
            <a:cxnSpLocks/>
            <a:stCxn id="26" idx="1"/>
            <a:endCxn id="29" idx="1"/>
          </p:cNvCxnSpPr>
          <p:nvPr/>
        </p:nvCxnSpPr>
        <p:spPr>
          <a:xfrm rot="10800000" flipV="1">
            <a:off x="1417320" y="13030200"/>
            <a:ext cx="12700" cy="4027932"/>
          </a:xfrm>
          <a:prstGeom prst="bentConnector3">
            <a:avLst>
              <a:gd name="adj1" fmla="val 2472898"/>
            </a:avLst>
          </a:prstGeom>
          <a:ln w="38100">
            <a:solidFill>
              <a:srgbClr val="81909C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0A26409-98DE-CB9F-16E9-173AF7913C84}"/>
              </a:ext>
            </a:extLst>
          </p:cNvPr>
          <p:cNvGrpSpPr/>
          <p:nvPr/>
        </p:nvGrpSpPr>
        <p:grpSpPr>
          <a:xfrm>
            <a:off x="19863203" y="851182"/>
            <a:ext cx="9008265" cy="4907125"/>
            <a:chOff x="17671695" y="1839523"/>
            <a:chExt cx="9008265" cy="3525428"/>
          </a:xfrm>
        </p:grpSpPr>
        <p:sp>
          <p:nvSpPr>
            <p:cNvPr id="7" name="object 142">
              <a:extLst>
                <a:ext uri="{FF2B5EF4-FFF2-40B4-BE49-F238E27FC236}">
                  <a16:creationId xmlns:a16="http://schemas.microsoft.com/office/drawing/2014/main" id="{7F29821F-F8FE-78E3-F938-6F34BC5CE5AC}"/>
                </a:ext>
              </a:extLst>
            </p:cNvPr>
            <p:cNvSpPr/>
            <p:nvPr/>
          </p:nvSpPr>
          <p:spPr>
            <a:xfrm>
              <a:off x="17671695" y="1839523"/>
              <a:ext cx="9008265" cy="3525428"/>
            </a:xfrm>
            <a:custGeom>
              <a:avLst/>
              <a:gdLst/>
              <a:ahLst/>
              <a:cxnLst/>
              <a:rect l="l" t="t" r="r" b="b"/>
              <a:pathLst>
                <a:path w="4839969" h="2103754">
                  <a:moveTo>
                    <a:pt x="4743354" y="0"/>
                  </a:moveTo>
                  <a:lnTo>
                    <a:pt x="96259" y="0"/>
                  </a:lnTo>
                  <a:lnTo>
                    <a:pt x="58790" y="7564"/>
                  </a:lnTo>
                  <a:lnTo>
                    <a:pt x="28193" y="28193"/>
                  </a:lnTo>
                  <a:lnTo>
                    <a:pt x="7564" y="58790"/>
                  </a:lnTo>
                  <a:lnTo>
                    <a:pt x="0" y="96259"/>
                  </a:lnTo>
                  <a:lnTo>
                    <a:pt x="0" y="2007007"/>
                  </a:lnTo>
                  <a:lnTo>
                    <a:pt x="7564" y="2044475"/>
                  </a:lnTo>
                  <a:lnTo>
                    <a:pt x="28193" y="2075072"/>
                  </a:lnTo>
                  <a:lnTo>
                    <a:pt x="58790" y="2095701"/>
                  </a:lnTo>
                  <a:lnTo>
                    <a:pt x="96259" y="2103266"/>
                  </a:lnTo>
                  <a:lnTo>
                    <a:pt x="4743354" y="2103266"/>
                  </a:lnTo>
                  <a:lnTo>
                    <a:pt x="4780823" y="2095701"/>
                  </a:lnTo>
                  <a:lnTo>
                    <a:pt x="4811420" y="2075072"/>
                  </a:lnTo>
                  <a:lnTo>
                    <a:pt x="4832049" y="2044475"/>
                  </a:lnTo>
                  <a:lnTo>
                    <a:pt x="4839613" y="2007007"/>
                  </a:lnTo>
                  <a:lnTo>
                    <a:pt x="4839613" y="96259"/>
                  </a:lnTo>
                  <a:lnTo>
                    <a:pt x="4832049" y="58790"/>
                  </a:lnTo>
                  <a:lnTo>
                    <a:pt x="4811420" y="28193"/>
                  </a:lnTo>
                  <a:lnTo>
                    <a:pt x="4780823" y="7564"/>
                  </a:lnTo>
                  <a:lnTo>
                    <a:pt x="474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600"/>
            </a:p>
          </p:txBody>
        </p:sp>
        <p:sp>
          <p:nvSpPr>
            <p:cNvPr id="8" name="object 144">
              <a:extLst>
                <a:ext uri="{FF2B5EF4-FFF2-40B4-BE49-F238E27FC236}">
                  <a16:creationId xmlns:a16="http://schemas.microsoft.com/office/drawing/2014/main" id="{B3400E49-2EDA-972B-6985-6CDDC37D8BCC}"/>
                </a:ext>
              </a:extLst>
            </p:cNvPr>
            <p:cNvSpPr txBox="1"/>
            <p:nvPr/>
          </p:nvSpPr>
          <p:spPr>
            <a:xfrm>
              <a:off x="17859096" y="2086451"/>
              <a:ext cx="8528804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4000" b="1" spc="-3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</a:t>
              </a:r>
              <a:r>
                <a:rPr sz="4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FINDINGS &amp; </a:t>
              </a:r>
              <a:r>
                <a:rPr sz="4000" b="1" spc="-5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  <a:endParaRPr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278">
              <a:extLst>
                <a:ext uri="{FF2B5EF4-FFF2-40B4-BE49-F238E27FC236}">
                  <a16:creationId xmlns:a16="http://schemas.microsoft.com/office/drawing/2014/main" id="{F177ED28-8BFE-40D6-229A-131CEA5941D9}"/>
                </a:ext>
              </a:extLst>
            </p:cNvPr>
            <p:cNvSpPr txBox="1"/>
            <p:nvPr/>
          </p:nvSpPr>
          <p:spPr>
            <a:xfrm>
              <a:off x="17859096" y="2664469"/>
              <a:ext cx="8523696" cy="23125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lang="en-US" sz="2250" dirty="0">
                  <a:latin typeface="Arial" panose="020B0604020202020204" pitchFamily="34" charset="0"/>
                  <a:cs typeface="Arial" panose="020B0604020202020204" pitchFamily="34" charset="0"/>
                </a:rPr>
                <a:t>synpmx is a new R package for generating synthetic data from real datasets.  It is available at: </a:t>
              </a:r>
              <a:r>
                <a:rPr lang="en-US" sz="2250" dirty="0">
                  <a:latin typeface="Arial" panose="020B0604020202020204" pitchFamily="34" charset="0"/>
                  <a:cs typeface="Arial" panose="020B0604020202020204" pitchFamily="34" charset="0"/>
                  <a:hlinkClick r:id="rId10"/>
                </a:rPr>
                <a:t>iamstein.github.io/synpmx</a:t>
              </a:r>
              <a:endParaRPr lang="en-US"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endParaRPr lang="en-US"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lang="en-US" sz="2250" dirty="0">
                  <a:latin typeface="Arial" panose="020B0604020202020204" pitchFamily="34" charset="0"/>
                  <a:cs typeface="Arial" panose="020B0604020202020204" pitchFamily="34" charset="0"/>
                </a:rPr>
                <a:t>Intended use case: transferring synthetic data out of secure computing environment to enable AI-assisted code generation in an AI-enabled development environment.</a:t>
              </a: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endParaRPr lang="en-US" sz="22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55600" marR="5080" indent="-342900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Char char="•"/>
                <a:tabLst>
                  <a:tab pos="165735" algn="l"/>
                </a:tabLst>
              </a:pPr>
              <a:r>
                <a:rPr lang="en-US" sz="2250" dirty="0">
                  <a:latin typeface="Arial" panose="020B0604020202020204" pitchFamily="34" charset="0"/>
                  <a:cs typeface="Arial" panose="020B0604020202020204" pitchFamily="34" charset="0"/>
                </a:rPr>
                <a:t>Further work is needed to develop safeguards against membership inference from reported model parameters.</a:t>
              </a:r>
            </a:p>
          </p:txBody>
        </p:sp>
      </p:grpSp>
      <p:sp>
        <p:nvSpPr>
          <p:cNvPr id="32" name="object 291">
            <a:extLst>
              <a:ext uri="{FF2B5EF4-FFF2-40B4-BE49-F238E27FC236}">
                <a16:creationId xmlns:a16="http://schemas.microsoft.com/office/drawing/2014/main" id="{27187BAA-A955-1174-0AA6-DD987AE51AAF}"/>
              </a:ext>
            </a:extLst>
          </p:cNvPr>
          <p:cNvSpPr txBox="1"/>
          <p:nvPr/>
        </p:nvSpPr>
        <p:spPr>
          <a:xfrm>
            <a:off x="914400" y="4858193"/>
            <a:ext cx="8744479" cy="628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000" spc="-5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 is sponsored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Novartis Pharma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0" spc="-10" dirty="0">
                <a:latin typeface="Arial" panose="020B0604020202020204" pitchFamily="34" charset="0"/>
                <a:cs typeface="Arial" panose="020B0604020202020204" pitchFamily="34" charset="0"/>
              </a:rPr>
              <a:t>Poster presented at </a:t>
            </a:r>
            <a:r>
              <a:rPr lang="en-US"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ACOP 2026</a:t>
            </a:r>
            <a:r>
              <a:rPr sz="2000" b="0" spc="-5" dirty="0">
                <a:latin typeface="Arial" panose="020B0604020202020204" pitchFamily="34" charset="0"/>
                <a:cs typeface="Arial" panose="020B0604020202020204" pitchFamily="34" charset="0"/>
              </a:rPr>
              <a:t>, held on </a:t>
            </a:r>
            <a:r>
              <a:rPr lang="en-US" sz="2000" spc="-25" dirty="0">
                <a:latin typeface="Arial" panose="020B0604020202020204" pitchFamily="34" charset="0"/>
                <a:cs typeface="Arial" panose="020B0604020202020204" pitchFamily="34" charset="0"/>
              </a:rPr>
              <a:t>October 11-14, 2026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22545-EE5E-1A08-F0F8-2DCCAE161B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6632" y="891473"/>
            <a:ext cx="2790190" cy="279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3071"/>
      </p:ext>
    </p:extLst>
  </p:cSld>
  <p:clrMapOvr>
    <a:masterClrMapping/>
  </p:clrMapOvr>
</p:sld>
</file>

<file path=ppt/theme/theme1.xml><?xml version="1.0" encoding="utf-8"?>
<a:theme xmlns:a="http://schemas.openxmlformats.org/drawingml/2006/main" name="Novartis | Reimagining Medicine">
  <a:themeElements>
    <a:clrScheme name="Novartis 2026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ovartis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vartis | Reimagining Medicine">
  <a:themeElements>
    <a:clrScheme name="Novartis 2026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ovartis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b0cb50-2497-4bab-8208-7b99e71baa1e">
      <Terms xmlns="http://schemas.microsoft.com/office/infopath/2007/PartnerControls"/>
    </lcf76f155ced4ddcb4097134ff3c332f>
    <TaxCatchAll xmlns="5629d9b3-3316-48ce-a657-3c1e2ec8ba7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577A2DBDFA8A41AD0762900FF30934" ma:contentTypeVersion="11" ma:contentTypeDescription="Create a new document." ma:contentTypeScope="" ma:versionID="84857bc68f53f042a8d6fd86892514f2">
  <xsd:schema xmlns:xsd="http://www.w3.org/2001/XMLSchema" xmlns:xs="http://www.w3.org/2001/XMLSchema" xmlns:p="http://schemas.microsoft.com/office/2006/metadata/properties" xmlns:ns2="1cb0cb50-2497-4bab-8208-7b99e71baa1e" xmlns:ns3="5629d9b3-3316-48ce-a657-3c1e2ec8ba79" targetNamespace="http://schemas.microsoft.com/office/2006/metadata/properties" ma:root="true" ma:fieldsID="028a88a6dc04417f4503d75f89967ce2" ns2:_="" ns3:_="">
    <xsd:import namespace="1cb0cb50-2497-4bab-8208-7b99e71baa1e"/>
    <xsd:import namespace="5629d9b3-3316-48ce-a657-3c1e2ec8ba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b0cb50-2497-4bab-8208-7b99e71baa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37bc47b-3997-4ccb-824d-08e9c3bde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29d9b3-3316-48ce-a657-3c1e2ec8ba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2ac0668-fafb-4236-9ed0-a938c09523d3}" ma:internalName="TaxCatchAll" ma:showField="CatchAllData" ma:web="5629d9b3-3316-48ce-a657-3c1e2ec8ba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D2479D-337A-4DB5-B291-B374D8020124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1cb0cb50-2497-4bab-8208-7b99e71baa1e"/>
    <ds:schemaRef ds:uri="http://schemas.microsoft.com/office/infopath/2007/PartnerControls"/>
    <ds:schemaRef ds:uri="5629d9b3-3316-48ce-a657-3c1e2ec8ba7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2D652D7-2565-4741-A7E7-639F3C5DC75A}">
  <ds:schemaRefs>
    <ds:schemaRef ds:uri="1cb0cb50-2497-4bab-8208-7b99e71baa1e"/>
    <ds:schemaRef ds:uri="5629d9b3-3316-48ce-a657-3c1e2ec8ba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CBA5F1-B4F6-488E-BA19-F87EF0C6D9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990</Words>
  <Application>Microsoft Macintosh PowerPoint</Application>
  <PresentationFormat>Custom</PresentationFormat>
  <Paragraphs>125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Ping LCG Medium</vt:lpstr>
      <vt:lpstr>Novartis | Reimagining Medicine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Stein, Andrew</cp:lastModifiedBy>
  <cp:revision>1</cp:revision>
  <dcterms:created xsi:type="dcterms:W3CDTF">2026-09-18T10:43:28Z</dcterms:created>
  <dcterms:modified xsi:type="dcterms:W3CDTF">2026-09-29T10:10:12Z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0x010100BD577A2DBDFA8A41AD0762900FF30934</vt:lpwstr>
  </property>
  <property fmtid="{D5CDD505-2E9C-101B-9397-08002B2CF9AE}" pid="3" name="MediaServiceImageTags">
    <vt:lpwstr/>
  </property>
</Properties>
</file>