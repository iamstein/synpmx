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9727c68a1a404b" /><Relationship Type="http://schemas.openxmlformats.org/officeDocument/2006/relationships/extended-properties" Target="/docProps/app.xml" Id="Reff317058a0c4344" /><Relationship Type="http://schemas.openxmlformats.org/officeDocument/2006/relationships/officeDocument" Target="/ppt/presentation.xml" Id="R1cb8e37e919c4ab5" /></Relationships>
</file>

<file path=ppt/presentation.xml><?xml version="1.0" encoding="utf-8"?>
<p:presentation xmlns:p="http://schemas.openxmlformats.org/presentationml/2006/main">
  <p:sldMasterIdLst>
    <p:sldMasterId xmlns:r="http://schemas.openxmlformats.org/officeDocument/2006/relationships" id="2147483648" r:id="R3eac2e93708e41da"/>
  </p:sldMasterIdLst>
  <p:notesMasterIdLst>
    <p:notesMasterId xmlns:r="http://schemas.openxmlformats.org/officeDocument/2006/relationships" r:id="Re323295c70114ed5"/>
  </p:notesMasterIdLst>
  <p:sldIdLst>
    <p:sldId xmlns:r="http://schemas.openxmlformats.org/officeDocument/2006/relationships" id="256" r:id="R86e8c3a45bd2453c"/>
  </p:sldIdLst>
  <p:sldSz cx="32918400" cy="438912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p="http://schemas.openxmlformats.org/presentationml/2006/main">
  <p:slideViewPr>
    <p:cSldViewPr snapToGrid="0" showGuides="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500e1244858748ac" /><Relationship Type="http://schemas.openxmlformats.org/officeDocument/2006/relationships/slideMaster" Target="/ppt/slideMasters/slideMaster1.xml" Id="R3eac2e93708e41da" /><Relationship Type="http://schemas.openxmlformats.org/officeDocument/2006/relationships/notesMaster" Target="/ppt/notesMasters/notesMaster1.xml" Id="Re323295c70114ed5" /><Relationship Type="http://schemas.openxmlformats.org/officeDocument/2006/relationships/presProps" Target="/ppt/presProps.xml" Id="Ra89cbbb6cec74af3" /><Relationship Type="http://schemas.openxmlformats.org/officeDocument/2006/relationships/viewProps" Target="/ppt/viewProps.xml" Id="R5d8d084d3757487c" /><Relationship Type="http://schemas.openxmlformats.org/officeDocument/2006/relationships/tableStyles" Target="/ppt/tableStyles.xml" Id="Rc0664c8df5bf4deb" /><Relationship Type="http://schemas.openxmlformats.org/officeDocument/2006/relationships/slide" Target="/ppt/slides/slide1.xml" Id="R86e8c3a45bd245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135892da73435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22e95b8a48c434e" /><Relationship Type="http://schemas.openxmlformats.org/officeDocument/2006/relationships/notesMaster" Target="/ppt/notesMasters/notesMaster1.xml" Id="R4f88ddf82faf4e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Content source: communications/2026-acop-poster-outline-v2.md. Branding source: New Branding 2026 Poster Template Portrait_A0.pptx, gradient variant. Requirements source: ACoP 2026 Poster Presenter Toolkit.pdf and ACoP Poster Email.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bf460031c94e24" /></Relationships>
</file>

<file path=ppt/slideLayouts/slideLayout1.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3a6e9d39714c9b" /><Relationship Type="http://schemas.openxmlformats.org/officeDocument/2006/relationships/slideLayout" Target="/ppt/slideLayouts/slideLayout1.xml" Id="Rd0c63ee44b6346a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c63ee44b6346a0"/>
  </p:sldLayoutIdLst>
  <p:hf hdr="0" dt="0"/>
  <p:txStyles>
    <p:titleStyle>
      <a:lvl1pPr xmlns:a="http://schemas.openxmlformats.org/drawingml/2006/main" algn="l" defTabSz="377716">
        <a:lnSpc>
          <a:spcPct val="95000"/>
        </a:lnSpc>
        <a:spcBef>
          <a:spcPct val="0"/>
        </a:spcBef>
        <a:buNone/>
        <a:defRPr sz="1239" b="1" kern="1200">
          <a:solidFill>
            <a:srgbClr val="002068"/>
          </a:solidFill>
          <a:latin typeface="+mj-lt"/>
          <a:ea typeface="+mj-lt"/>
          <a:cs typeface="+mj-lt"/>
        </a:defRPr>
      </a:lvl1pPr>
    </p:titleStyle>
    <p:bodyStyle>
      <a:lvl1pPr xmlns:a="http://schemas.openxmlformats.org/drawingml/2006/main" marL="0" indent="0" algn="l" defTabSz="377716">
        <a:lnSpc>
          <a:spcPct val="95000"/>
        </a:lnSpc>
        <a:spcBef>
          <a:spcPts val="413"/>
        </a:spcBef>
        <a:buFontTx/>
        <a:buNone/>
        <a:defRPr sz="826" b="1" kern="1200">
          <a:solidFill>
            <a:srgbClr val="0460A9"/>
          </a:solidFill>
          <a:latin typeface="+mn-lt"/>
          <a:ea typeface="+mn-lt"/>
          <a:cs typeface="+mn-lt"/>
        </a:defRPr>
      </a:lvl1pPr>
      <a:lvl2pPr xmlns:a="http://schemas.openxmlformats.org/drawingml/2006/main" marL="0" indent="0" algn="l" defTabSz="377716">
        <a:lnSpc>
          <a:spcPct val="95000"/>
        </a:lnSpc>
        <a:spcBef>
          <a:spcPts val="289"/>
        </a:spcBef>
        <a:buFontTx/>
        <a:buNone/>
        <a:defRPr sz="826" kern="1200">
          <a:solidFill>
            <a:schemeClr val="tx1"/>
          </a:solidFill>
          <a:latin typeface="+mn-lt"/>
          <a:ea typeface="+mn-lt"/>
          <a:cs typeface="+mn-lt"/>
        </a:defRPr>
      </a:lvl2pPr>
      <a:lvl3pPr xmlns:a="http://schemas.openxmlformats.org/drawingml/2006/main" marL="89224" indent="-89224" algn="l" defTabSz="377716">
        <a:lnSpc>
          <a:spcPct val="95000"/>
        </a:lnSpc>
        <a:spcBef>
          <a:spcPts val="248"/>
        </a:spcBef>
        <a:buClr>
          <a:srgbClr val="0460A9"/>
        </a:buClr>
        <a:buFont typeface="Ping LCG Medium"/>
        <a:buChar char="•"/>
        <a:defRPr sz="826" kern="1200">
          <a:solidFill>
            <a:schemeClr val="tx1"/>
          </a:solidFill>
          <a:latin typeface="+mn-lt"/>
          <a:ea typeface="+mn-lt"/>
          <a:cs typeface="+mn-lt"/>
        </a:defRPr>
      </a:lvl3pPr>
      <a:lvl4pPr xmlns:a="http://schemas.openxmlformats.org/drawingml/2006/main" marL="202629" indent="-110823"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4pPr>
      <a:lvl5pPr xmlns:a="http://schemas.openxmlformats.org/drawingml/2006/main" marL="319354" indent="-114757" algn="l" defTabSz="377716">
        <a:lnSpc>
          <a:spcPct val="95000"/>
        </a:lnSpc>
        <a:spcBef>
          <a:spcPts val="248"/>
        </a:spcBef>
        <a:buClr>
          <a:srgbClr val="0460A9"/>
        </a:buClr>
        <a:buFont typeface="Arial"/>
        <a:buChar char="–"/>
        <a:defRPr sz="743" kern="1200">
          <a:solidFill>
            <a:schemeClr val="tx1"/>
          </a:solidFill>
          <a:latin typeface="+mn-lt"/>
          <a:ea typeface="+mn-lt"/>
          <a:cs typeface="+mn-lt"/>
        </a:defRPr>
      </a:lvl5pPr>
      <a:lvl6pPr xmlns:a="http://schemas.openxmlformats.org/drawingml/2006/main" marL="1038719" indent="-94430" algn="l" defTabSz="377716">
        <a:lnSpc>
          <a:spcPct val="90000"/>
        </a:lnSpc>
        <a:spcBef>
          <a:spcPts val="207"/>
        </a:spcBef>
        <a:buFont typeface="Arial"/>
        <a:buChar char="•"/>
        <a:defRPr sz="743" kern="1200">
          <a:solidFill>
            <a:schemeClr val="tx1"/>
          </a:solidFill>
          <a:latin typeface="+mn-lt"/>
          <a:ea typeface="+mn-lt"/>
          <a:cs typeface="+mn-lt"/>
        </a:defRPr>
      </a:lvl6pPr>
      <a:lvl7pPr xmlns:a="http://schemas.openxmlformats.org/drawingml/2006/main" marL="1227576" indent="-94430" algn="l" defTabSz="377716">
        <a:lnSpc>
          <a:spcPct val="90000"/>
        </a:lnSpc>
        <a:spcBef>
          <a:spcPts val="207"/>
        </a:spcBef>
        <a:buFont typeface="Arial"/>
        <a:buChar char="•"/>
        <a:defRPr sz="743" kern="1200">
          <a:solidFill>
            <a:schemeClr val="tx1"/>
          </a:solidFill>
          <a:latin typeface="+mn-lt"/>
          <a:ea typeface="+mn-lt"/>
          <a:cs typeface="+mn-lt"/>
        </a:defRPr>
      </a:lvl7pPr>
      <a:lvl8pPr xmlns:a="http://schemas.openxmlformats.org/drawingml/2006/main" marL="1416434" indent="-94430" algn="l" defTabSz="377716">
        <a:lnSpc>
          <a:spcPct val="90000"/>
        </a:lnSpc>
        <a:spcBef>
          <a:spcPts val="207"/>
        </a:spcBef>
        <a:buFont typeface="Arial"/>
        <a:buChar char="•"/>
        <a:defRPr sz="743" kern="1200">
          <a:solidFill>
            <a:schemeClr val="tx1"/>
          </a:solidFill>
          <a:latin typeface="+mn-lt"/>
          <a:ea typeface="+mn-lt"/>
          <a:cs typeface="+mn-lt"/>
        </a:defRPr>
      </a:lvl8pPr>
      <a:lvl9pPr xmlns:a="http://schemas.openxmlformats.org/drawingml/2006/main" marL="1605292" indent="-94430" algn="l" defTabSz="377716">
        <a:lnSpc>
          <a:spcPct val="90000"/>
        </a:lnSpc>
        <a:spcBef>
          <a:spcPts val="207"/>
        </a:spcBef>
        <a:buFont typeface="Arial"/>
        <a:buChar char="•"/>
        <a:defRPr sz="743" kern="1200">
          <a:solidFill>
            <a:schemeClr val="tx1"/>
          </a:solidFill>
          <a:latin typeface="+mn-lt"/>
          <a:ea typeface="+mn-lt"/>
          <a:cs typeface="+mn-lt"/>
        </a:defRPr>
      </a:lvl9pPr>
    </p:bodyStyle>
    <p:otherStyle>
      <a:lvl1pPr xmlns:a="http://schemas.openxmlformats.org/drawingml/2006/main" marL="0" algn="l" defTabSz="377716">
        <a:buNone/>
        <a:defRPr sz="743" kern="1200">
          <a:solidFill>
            <a:schemeClr val="tx1"/>
          </a:solidFill>
          <a:latin typeface="+mn-lt"/>
          <a:ea typeface="+mn-lt"/>
          <a:cs typeface="+mn-lt"/>
        </a:defRPr>
      </a:lvl1pPr>
      <a:lvl2pPr xmlns:a="http://schemas.openxmlformats.org/drawingml/2006/main" marL="188858" algn="l" defTabSz="377716">
        <a:buNone/>
        <a:defRPr sz="743" kern="1200">
          <a:solidFill>
            <a:schemeClr val="tx1"/>
          </a:solidFill>
          <a:latin typeface="+mn-lt"/>
          <a:ea typeface="+mn-lt"/>
          <a:cs typeface="+mn-lt"/>
        </a:defRPr>
      </a:lvl2pPr>
      <a:lvl3pPr xmlns:a="http://schemas.openxmlformats.org/drawingml/2006/main" marL="377716" algn="l" defTabSz="377716">
        <a:buNone/>
        <a:defRPr sz="743" kern="1200">
          <a:solidFill>
            <a:schemeClr val="tx1"/>
          </a:solidFill>
          <a:latin typeface="+mn-lt"/>
          <a:ea typeface="+mn-lt"/>
          <a:cs typeface="+mn-lt"/>
        </a:defRPr>
      </a:lvl3pPr>
      <a:lvl4pPr xmlns:a="http://schemas.openxmlformats.org/drawingml/2006/main" marL="566573" algn="l" defTabSz="377716">
        <a:buNone/>
        <a:defRPr sz="743" kern="1200">
          <a:solidFill>
            <a:schemeClr val="tx1"/>
          </a:solidFill>
          <a:latin typeface="+mn-lt"/>
          <a:ea typeface="+mn-lt"/>
          <a:cs typeface="+mn-lt"/>
        </a:defRPr>
      </a:lvl4pPr>
      <a:lvl5pPr xmlns:a="http://schemas.openxmlformats.org/drawingml/2006/main" marL="755432" algn="l" defTabSz="377716">
        <a:buNone/>
        <a:defRPr sz="743" kern="1200">
          <a:solidFill>
            <a:schemeClr val="tx1"/>
          </a:solidFill>
          <a:latin typeface="+mn-lt"/>
          <a:ea typeface="+mn-lt"/>
          <a:cs typeface="+mn-lt"/>
        </a:defRPr>
      </a:lvl5pPr>
      <a:lvl6pPr xmlns:a="http://schemas.openxmlformats.org/drawingml/2006/main" marL="944289" algn="l" defTabSz="377716">
        <a:buNone/>
        <a:defRPr sz="743" kern="1200">
          <a:solidFill>
            <a:schemeClr val="tx1"/>
          </a:solidFill>
          <a:latin typeface="+mn-lt"/>
          <a:ea typeface="+mn-lt"/>
          <a:cs typeface="+mn-lt"/>
        </a:defRPr>
      </a:lvl6pPr>
      <a:lvl7pPr xmlns:a="http://schemas.openxmlformats.org/drawingml/2006/main" marL="1133147" algn="l" defTabSz="377716">
        <a:buNone/>
        <a:defRPr sz="743" kern="1200">
          <a:solidFill>
            <a:schemeClr val="tx1"/>
          </a:solidFill>
          <a:latin typeface="+mn-lt"/>
          <a:ea typeface="+mn-lt"/>
          <a:cs typeface="+mn-lt"/>
        </a:defRPr>
      </a:lvl7pPr>
      <a:lvl8pPr xmlns:a="http://schemas.openxmlformats.org/drawingml/2006/main" marL="1322006" algn="l" defTabSz="377716">
        <a:buNone/>
        <a:defRPr sz="743" kern="1200">
          <a:solidFill>
            <a:schemeClr val="tx1"/>
          </a:solidFill>
          <a:latin typeface="+mn-lt"/>
          <a:ea typeface="+mn-lt"/>
          <a:cs typeface="+mn-lt"/>
        </a:defRPr>
      </a:lvl8pPr>
      <a:lvl9pPr xmlns:a="http://schemas.openxmlformats.org/drawingml/2006/main" marL="1510864" algn="l" defTabSz="377716">
        <a:buNone/>
        <a:defRPr sz="743" kern="1200">
          <a:solidFill>
            <a:schemeClr val="tx1"/>
          </a:solidFill>
          <a:latin typeface="+mn-lt"/>
          <a:ea typeface="+mn-lt"/>
          <a:cs typeface="+mn-lt"/>
        </a:defRPr>
      </a:lvl9pPr>
    </p:otherStyle>
  </p:txStyles>
  <p:extLst>
    <p:ext uri="{27BBF7A9-308A-43DC-89C8-2F10F3537804}">
      <p15:sldGuideLst xmlns:p15="http://schemas.microsoft.com/office/powerpoint/2012/main">
        <p15:guide id="2" pos="9830" userDrawn="1">
          <p15:clr>
            <a:srgbClr xmlns:a="http://schemas.openxmlformats.org/drawingml/2006/main" val="F26B43"/>
          </p15:clr>
        </p15:guide>
        <p15:guide id="3" orient="horz" pos="577" userDrawn="1">
          <p15:clr>
            <a:srgbClr xmlns:a="http://schemas.openxmlformats.org/drawingml/2006/main" val="F26B43"/>
          </p15:clr>
        </p15:guide>
        <p15:guide id="12" pos="18494" userDrawn="1">
          <p15:clr>
            <a:srgbClr xmlns:a="http://schemas.openxmlformats.org/drawingml/2006/main" val="F26B43"/>
          </p15:clr>
        </p15:guide>
        <p15:guide id="13" pos="577" userDrawn="1">
          <p15:clr>
            <a:srgbClr xmlns:a="http://schemas.openxmlformats.org/drawingml/2006/main" val="F26B43"/>
          </p15:clr>
        </p15:guide>
        <p15:guide id="24" orient="horz" pos="26386" userDrawn="1">
          <p15:clr>
            <a:srgbClr xmlns:a="http://schemas.openxmlformats.org/drawingml/2006/main" val="F26B43"/>
          </p15:clr>
        </p15:guide>
        <p15:guide id="26" pos="9241" userDrawn="1">
          <p15:clr>
            <a:srgbClr xmlns:a="http://schemas.openxmlformats.org/drawingml/2006/main" val="F26B43"/>
          </p15:clr>
        </p15:guide>
      </p15:sldGuideLst>
    </p:ext>
  </p:extLst>
</p:sldMaster>
</file>

<file path=ppt/slideMasters/theme/theme2.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e1c2dbbc754372" /><Relationship Type="http://schemas.openxmlformats.org/officeDocument/2006/relationships/image" Target="/ppt/media/image.png" Id="R78fb817647344a90" /><Relationship Type="http://schemas.openxmlformats.org/officeDocument/2006/relationships/image" Target="/ppt/media/image.svg" Id="R71c5d091c6e745a7" /><Relationship Type="http://schemas.openxmlformats.org/officeDocument/2006/relationships/notesSlide" Target="/ppt/notesSlides/notesSlide1.xml" Id="R0d8c28d2a1914a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1" name="bg object 16">
            <a:extLst xmlns:a="http://schemas.openxmlformats.org/drawingml/2006/main">
              <a:ext uri="{FF2B5EF4-FFF2-40B4-BE49-F238E27FC236}">
                <a16:creationId xmlns:a16="http://schemas.microsoft.com/office/drawing/2014/main" id="{6B91A59D-D913-9972-3166-37BCDEF105B1}"/>
              </a:ext>
            </a:extLst>
          </p:cNvPr>
          <p:cNvSpPr>
            <a:spLocks xmlns:a="http://schemas.openxmlformats.org/drawingml/2006/main" noGrp="1"/>
          </p:cNvSpPr>
          <p:nvPr/>
        </p:nvSpPr>
        <p:spPr>
          <a:xfrm xmlns:a="http://schemas.openxmlformats.org/drawingml/2006/main">
            <a:off x="0" y="0"/>
            <a:ext cx="32918400" cy="7315200"/>
          </a:xfrm>
          <a:custGeom xmlns:a="http://schemas.openxmlformats.org/drawingml/2006/main">
            <a:rect l="l" t="t" r="r" b="b"/>
            <a:pathLst>
              <a:path w="11488420" h="3952240">
                <a:moveTo>
                  <a:pt x="11488070" y="0"/>
                </a:moveTo>
                <a:lnTo>
                  <a:pt x="0" y="0"/>
                </a:lnTo>
                <a:lnTo>
                  <a:pt x="0" y="3951680"/>
                </a:lnTo>
                <a:lnTo>
                  <a:pt x="11488070" y="3951680"/>
                </a:lnTo>
                <a:lnTo>
                  <a:pt x="11488070" y="0"/>
                </a:lnTo>
                <a:close/>
              </a:path>
            </a:pathLst>
          </a:custGeom>
          <a:blipFill xmlns:a="http://schemas.openxmlformats.org/drawingml/2006/main">
            <a:blip xmlns:r="http://schemas.openxmlformats.org/officeDocument/2006/relationships" r:embed="R78fb817647344a90">
              <a:extLst>
                <a:ext uri="{96DAC541-7B7A-43D3-8B79-37D633B846F1}">
                  <asvg:svgBlip xmlns:asvg="http://schemas.microsoft.com/office/drawing/2016/SVG/main" r:embed="R71c5d091c6e745a7"/>
                </a:ext>
              </a:extLst>
            </a:blip>
            <a:stretch>
              <a:fillRect l="-811" t="-811" r="-811" b="-811"/>
            </a:stretch>
          </a:blip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lIns="108000" tIns="108000" rIns="108000" bIns="108000" anchor="t"/>
          <a:lstStyle xmlns:a="http://schemas.openxmlformats.org/drawingml/2006/main"/>
          <a:p xmlns:a="http://schemas.openxmlformats.org/drawingml/2006/main">
            <a:pPr marL="180000" lvl="0" indent="-180000" algn="l">
              <a:spcBef>
                <a:spcPts val="800"/>
              </a:spcBef>
              <a:buFont typeface="Arial"/>
              <a:buChar char="•"/>
            </a:pPr>
            <a:endParaRPr>
              <a:solidFill>
                <a:schemeClr val="lt1"/>
              </a:solidFill>
              <a:latin typeface="+mn-lt"/>
              <a:ea typeface="+mn-lt"/>
              <a:cs typeface="+mn-lt"/>
            </a:endParaRPr>
          </a:p>
        </p:txBody>
      </p:sp>
      <p:sp>
        <p:nvSpPr>
          <p:cNvPr id="12" name="Key findings panel">
            <a:extLst xmlns:a="http://schemas.openxmlformats.org/drawingml/2006/main">
              <a:ext uri="{FF2B5EF4-FFF2-40B4-BE49-F238E27FC236}">
                <a16:creationId xmlns:a16="http://schemas.microsoft.com/office/drawing/2014/main" id="{2F03F469-6F09-45B2-90C1-98ED0D2FDF4F}"/>
              </a:ext>
            </a:extLst>
          </p:cNvPr>
          <p:cNvSpPr>
            <a:spLocks xmlns:a="http://schemas.openxmlformats.org/drawingml/2006/main" noGrp="1"/>
          </p:cNvSpPr>
          <p:nvPr/>
        </p:nvSpPr>
        <p:spPr>
          <a:xfrm xmlns:a="http://schemas.openxmlformats.org/drawingml/2006/main">
            <a:off x="23180040" y="1371600"/>
            <a:ext cx="8823960" cy="4800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3" name="Contact">
            <a:extLst xmlns:a="http://schemas.openxmlformats.org/drawingml/2006/main">
              <a:ext uri="{FF2B5EF4-FFF2-40B4-BE49-F238E27FC236}">
                <a16:creationId xmlns:a16="http://schemas.microsoft.com/office/drawing/2014/main" id="{DFE1006C-4EEF-499F-8AF2-1E76D7663CFF}"/>
              </a:ext>
            </a:extLst>
          </p:cNvPr>
          <p:cNvSpPr>
            <a:spLocks xmlns:a="http://schemas.openxmlformats.org/drawingml/2006/main" noGrp="1"/>
          </p:cNvSpPr>
          <p:nvPr/>
        </p:nvSpPr>
        <p:spPr>
          <a:xfrm xmlns:a="http://schemas.openxmlformats.org/drawingml/2006/main">
            <a:off x="914400" y="457200"/>
            <a:ext cx="21945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[Presenting author]  /  [email address]</a:t>
            </a:r>
          </a:p>
        </p:txBody>
      </p:sp>
      <p:sp>
        <p:nvSpPr>
          <p:cNvPr id="14" name="Poster number">
            <a:extLst xmlns:a="http://schemas.openxmlformats.org/drawingml/2006/main">
              <a:ext uri="{FF2B5EF4-FFF2-40B4-BE49-F238E27FC236}">
                <a16:creationId xmlns:a16="http://schemas.microsoft.com/office/drawing/2014/main" id="{5D725FAB-FF18-4FF7-803C-2EB3C165E87E}"/>
              </a:ext>
            </a:extLst>
          </p:cNvPr>
          <p:cNvSpPr>
            <a:spLocks xmlns:a="http://schemas.openxmlformats.org/drawingml/2006/main" noGrp="1"/>
          </p:cNvSpPr>
          <p:nvPr/>
        </p:nvSpPr>
        <p:spPr>
          <a:xfrm xmlns:a="http://schemas.openxmlformats.org/drawingml/2006/main">
            <a:off x="25054560" y="457200"/>
            <a:ext cx="694944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Poster [number]</a:t>
            </a:r>
          </a:p>
        </p:txBody>
      </p:sp>
      <p:sp>
        <p:nvSpPr>
          <p:cNvPr id="15" name="Title">
            <a:extLst xmlns:a="http://schemas.openxmlformats.org/drawingml/2006/main">
              <a:ext uri="{FF2B5EF4-FFF2-40B4-BE49-F238E27FC236}">
                <a16:creationId xmlns:a16="http://schemas.microsoft.com/office/drawing/2014/main" id="{EE788B93-298A-4B01-94B2-29D23F24510E}"/>
              </a:ext>
            </a:extLst>
          </p:cNvPr>
          <p:cNvSpPr>
            <a:spLocks xmlns:a="http://schemas.openxmlformats.org/drawingml/2006/main" noGrp="1"/>
          </p:cNvSpPr>
          <p:nvPr/>
        </p:nvSpPr>
        <p:spPr>
          <a:xfrm xmlns:a="http://schemas.openxmlformats.org/drawingml/2006/main">
            <a:off x="914400" y="1371600"/>
            <a:ext cx="21671280" cy="3474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Enabling AI-Assisted</a:t>
            </a:r>
          </a:p>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Pharmacometric Workflows</a:t>
            </a:r>
          </a:p>
          <a:p xmlns:a="http://schemas.openxmlformats.org/drawingml/2006/main">
            <a:pPr>
              <a:defRPr sz="7600" b="1">
                <a:solidFill>
                  <a:srgbClr val="202020"/>
                </a:solidFill>
                <a:latin typeface="Arial"/>
                <a:ea typeface="Arial"/>
                <a:cs typeface="Arial"/>
              </a:defRPr>
            </a:pPr>
            <a:r>
              <a:rPr sz="7600" b="1">
                <a:solidFill>
                  <a:srgbClr val="202020"/>
                </a:solidFill>
                <a:latin typeface="Arial"/>
                <a:ea typeface="Arial"/>
                <a:cs typeface="Arial"/>
              </a:rPr>
              <a:t>Using Synthetic Data</a:t>
            </a:r>
          </a:p>
        </p:txBody>
      </p:sp>
      <p:sp>
        <p:nvSpPr>
          <p:cNvPr id="16" name="Authors">
            <a:extLst xmlns:a="http://schemas.openxmlformats.org/drawingml/2006/main">
              <a:ext uri="{FF2B5EF4-FFF2-40B4-BE49-F238E27FC236}">
                <a16:creationId xmlns:a16="http://schemas.microsoft.com/office/drawing/2014/main" id="{D495D411-9657-4E28-8429-C95D7B45B1B5}"/>
              </a:ext>
            </a:extLst>
          </p:cNvPr>
          <p:cNvSpPr>
            <a:spLocks xmlns:a="http://schemas.openxmlformats.org/drawingml/2006/main" noGrp="1"/>
          </p:cNvSpPr>
          <p:nvPr/>
        </p:nvSpPr>
        <p:spPr>
          <a:xfrm xmlns:a="http://schemas.openxmlformats.org/drawingml/2006/main">
            <a:off x="914400" y="5212080"/>
            <a:ext cx="21488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0">
                <a:solidFill>
                  <a:srgbClr val="202020"/>
                </a:solidFill>
                <a:latin typeface="Arial"/>
                <a:ea typeface="Arial"/>
                <a:cs typeface="Arial"/>
              </a:defRPr>
            </a:pPr>
            <a:r>
              <a:rPr sz="3200" b="0">
                <a:solidFill>
                  <a:srgbClr val="202020"/>
                </a:solidFill>
                <a:latin typeface="Arial"/>
                <a:ea typeface="Arial"/>
                <a:cs typeface="Arial"/>
              </a:rPr>
              <a:t>Andrew Stein, Alex Pogodaev</a:t>
            </a:r>
          </a:p>
        </p:txBody>
      </p:sp>
      <p:sp>
        <p:nvSpPr>
          <p:cNvPr id="17" name="Affiliations">
            <a:extLst xmlns:a="http://schemas.openxmlformats.org/drawingml/2006/main">
              <a:ext uri="{FF2B5EF4-FFF2-40B4-BE49-F238E27FC236}">
                <a16:creationId xmlns:a16="http://schemas.microsoft.com/office/drawing/2014/main" id="{3CA0A72E-9B8E-4751-953D-E119AE71A476}"/>
              </a:ext>
            </a:extLst>
          </p:cNvPr>
          <p:cNvSpPr>
            <a:spLocks xmlns:a="http://schemas.openxmlformats.org/drawingml/2006/main" noGrp="1"/>
          </p:cNvSpPr>
          <p:nvPr/>
        </p:nvSpPr>
        <p:spPr>
          <a:xfrm xmlns:a="http://schemas.openxmlformats.org/drawingml/2006/main">
            <a:off x="914400" y="5943600"/>
            <a:ext cx="214884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[Department, institution, city, country]</a:t>
            </a:r>
          </a:p>
        </p:txBody>
      </p:sp>
      <p:sp>
        <p:nvSpPr>
          <p:cNvPr id="18" name="Conclusions heading">
            <a:extLst xmlns:a="http://schemas.openxmlformats.org/drawingml/2006/main">
              <a:ext uri="{FF2B5EF4-FFF2-40B4-BE49-F238E27FC236}">
                <a16:creationId xmlns:a16="http://schemas.microsoft.com/office/drawing/2014/main" id="{79C2F1CF-2A8B-4714-AF28-8C7ED037CAA5}"/>
              </a:ext>
            </a:extLst>
          </p:cNvPr>
          <p:cNvSpPr>
            <a:spLocks xmlns:a="http://schemas.openxmlformats.org/drawingml/2006/main" noGrp="1"/>
          </p:cNvSpPr>
          <p:nvPr/>
        </p:nvSpPr>
        <p:spPr>
          <a:xfrm xmlns:a="http://schemas.openxmlformats.org/drawingml/2006/main">
            <a:off x="23454360" y="1645920"/>
            <a:ext cx="827532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1">
                <a:solidFill>
                  <a:srgbClr val="E64A00"/>
                </a:solidFill>
                <a:latin typeface="Arial"/>
                <a:ea typeface="Arial"/>
                <a:cs typeface="Arial"/>
              </a:defRPr>
            </a:pPr>
            <a:r>
              <a:rPr sz="3200" b="1">
                <a:solidFill>
                  <a:srgbClr val="E64A00"/>
                </a:solidFill>
                <a:latin typeface="Arial"/>
                <a:ea typeface="Arial"/>
                <a:cs typeface="Arial"/>
              </a:rPr>
              <a:t>KEY FINDINGS &amp; CONCLUSIONS</a:t>
            </a:r>
          </a:p>
        </p:txBody>
      </p:sp>
      <p:sp>
        <p:nvSpPr>
          <p:cNvPr id="19" name="Conclusion copy">
            <a:extLst xmlns:a="http://schemas.openxmlformats.org/drawingml/2006/main">
              <a:ext uri="{FF2B5EF4-FFF2-40B4-BE49-F238E27FC236}">
                <a16:creationId xmlns:a16="http://schemas.microsoft.com/office/drawing/2014/main" id="{33D46168-BE79-4410-BDFB-4305452A9AEF}"/>
              </a:ext>
            </a:extLst>
          </p:cNvPr>
          <p:cNvSpPr>
            <a:spLocks xmlns:a="http://schemas.openxmlformats.org/drawingml/2006/main" noGrp="1"/>
          </p:cNvSpPr>
          <p:nvPr/>
        </p:nvSpPr>
        <p:spPr>
          <a:xfrm xmlns:a="http://schemas.openxmlformats.org/drawingml/2006/main">
            <a:off x="23454360" y="2651760"/>
            <a:ext cx="8275320" cy="3200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Synthetic data supports code development with artificial intelligence (AI).</a:t>
            </a:r>
          </a:p>
          <a:p xmlns:a="http://schemas.openxmlformats.org/drawingml/2006/main">
            <a:r>
              <a:t/>
            </a:r>
          </a:p>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Run the resulting code on real data inside the secure environment for scientific estimation and interpretation.</a:t>
            </a:r>
          </a:p>
        </p:txBody>
      </p:sp>
      <p:sp>
        <p:nvSpPr>
          <p:cNvPr id="20" name="Meeting">
            <a:extLst xmlns:a="http://schemas.openxmlformats.org/drawingml/2006/main">
              <a:ext uri="{FF2B5EF4-FFF2-40B4-BE49-F238E27FC236}">
                <a16:creationId xmlns:a16="http://schemas.microsoft.com/office/drawing/2014/main" id="{B313B527-893C-4B33-A06D-BB582D24841F}"/>
              </a:ext>
            </a:extLst>
          </p:cNvPr>
          <p:cNvSpPr>
            <a:spLocks xmlns:a="http://schemas.openxmlformats.org/drawingml/2006/main" noGrp="1"/>
          </p:cNvSpPr>
          <p:nvPr/>
        </p:nvSpPr>
        <p:spPr>
          <a:xfrm xmlns:a="http://schemas.openxmlformats.org/drawingml/2006/main">
            <a:off x="23225760" y="6400800"/>
            <a:ext cx="8778240" cy="731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ACoP 2026  /  October 11–14, 2026</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National Harbor, Maryland</a:t>
            </a:r>
          </a:p>
        </p:txBody>
      </p:sp>
      <p:sp>
        <p:nvSpPr>
          <p:cNvPr id="21" name="Objective">
            <a:extLst xmlns:a="http://schemas.openxmlformats.org/drawingml/2006/main">
              <a:ext uri="{FF2B5EF4-FFF2-40B4-BE49-F238E27FC236}">
                <a16:creationId xmlns:a16="http://schemas.microsoft.com/office/drawing/2014/main" id="{8010D67E-A9E7-4F2B-81B9-71C5D6E9E4BB}"/>
              </a:ext>
            </a:extLst>
          </p:cNvPr>
          <p:cNvSpPr>
            <a:spLocks xmlns:a="http://schemas.openxmlformats.org/drawingml/2006/main" noGrp="1"/>
          </p:cNvSpPr>
          <p:nvPr/>
        </p:nvSpPr>
        <p:spPr>
          <a:xfrm xmlns:a="http://schemas.openxmlformats.org/drawingml/2006/main">
            <a:off x="914400" y="8046720"/>
            <a:ext cx="8229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OBJECTIVE</a:t>
            </a:r>
          </a:p>
        </p:txBody>
      </p:sp>
      <p:sp>
        <p:nvSpPr>
          <p:cNvPr id="22" name="Objective copy">
            <a:extLst xmlns:a="http://schemas.openxmlformats.org/drawingml/2006/main">
              <a:ext uri="{FF2B5EF4-FFF2-40B4-BE49-F238E27FC236}">
                <a16:creationId xmlns:a16="http://schemas.microsoft.com/office/drawing/2014/main" id="{D87AF80B-B426-478D-BC24-A8FD70111E1C}"/>
              </a:ext>
            </a:extLst>
          </p:cNvPr>
          <p:cNvSpPr>
            <a:spLocks xmlns:a="http://schemas.openxmlformats.org/drawingml/2006/main" noGrp="1"/>
          </p:cNvSpPr>
          <p:nvPr/>
        </p:nvSpPr>
        <p:spPr>
          <a:xfrm xmlns:a="http://schemas.openxmlformats.org/drawingml/2006/main">
            <a:off x="914400" y="8823960"/>
            <a:ext cx="8229600" cy="3383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synpmx generates synthetic pharmacometric datasets for AI-assisted code development when clinical data must remain in a secure environment. Synthetic records provide the columns, dosing and observations needed to develop analysis code.</a:t>
            </a:r>
          </a:p>
        </p:txBody>
      </p:sp>
      <p:sp>
        <p:nvSpPr>
          <p:cNvPr id="23" name="Workflow">
            <a:extLst xmlns:a="http://schemas.openxmlformats.org/drawingml/2006/main">
              <a:ext uri="{FF2B5EF4-FFF2-40B4-BE49-F238E27FC236}">
                <a16:creationId xmlns:a16="http://schemas.microsoft.com/office/drawing/2014/main" id="{59959CE9-C35A-4BAD-81F9-AB730098E989}"/>
              </a:ext>
            </a:extLst>
          </p:cNvPr>
          <p:cNvSpPr>
            <a:spLocks xmlns:a="http://schemas.openxmlformats.org/drawingml/2006/main" noGrp="1"/>
          </p:cNvSpPr>
          <p:nvPr/>
        </p:nvSpPr>
        <p:spPr>
          <a:xfrm xmlns:a="http://schemas.openxmlformats.org/drawingml/2006/main">
            <a:off x="914400" y="12618720"/>
            <a:ext cx="8229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WORKFLOW</a:t>
            </a:r>
          </a:p>
        </p:txBody>
      </p:sp>
      <p:sp>
        <p:nvSpPr>
          <p:cNvPr id="24" name="Workflow figure">
            <a:extLst xmlns:a="http://schemas.openxmlformats.org/drawingml/2006/main">
              <a:ext uri="{FF2B5EF4-FFF2-40B4-BE49-F238E27FC236}">
                <a16:creationId xmlns:a16="http://schemas.microsoft.com/office/drawing/2014/main" id="{71155377-55EA-42F0-81D2-EEE1C5B65FA0}"/>
              </a:ext>
            </a:extLst>
          </p:cNvPr>
          <p:cNvSpPr>
            <a:spLocks xmlns:a="http://schemas.openxmlformats.org/drawingml/2006/main" noGrp="1"/>
          </p:cNvSpPr>
          <p:nvPr/>
        </p:nvSpPr>
        <p:spPr>
          <a:xfrm xmlns:a="http://schemas.openxmlformats.org/drawingml/2006/main">
            <a:off x="914400" y="13395960"/>
            <a:ext cx="8229600" cy="941832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25" name="Workflow figure label">
            <a:extLst xmlns:a="http://schemas.openxmlformats.org/drawingml/2006/main">
              <a:ext uri="{FF2B5EF4-FFF2-40B4-BE49-F238E27FC236}">
                <a16:creationId xmlns:a16="http://schemas.microsoft.com/office/drawing/2014/main" id="{DF1D9730-F4CA-4E88-ABE3-107E05F1AACB}"/>
              </a:ext>
            </a:extLst>
          </p:cNvPr>
          <p:cNvSpPr>
            <a:spLocks xmlns:a="http://schemas.openxmlformats.org/drawingml/2006/main" noGrp="1"/>
          </p:cNvSpPr>
          <p:nvPr/>
        </p:nvSpPr>
        <p:spPr>
          <a:xfrm xmlns:a="http://schemas.openxmlformats.org/drawingml/2006/main">
            <a:off x="1124712" y="13624560"/>
            <a:ext cx="7808976" cy="8961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Figure 1. Workflow</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[Editable workflow diagram]</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Secure clinical-data environment</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Generate and review synthetic data</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AI-enabled development environment</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Develop and debug code</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Return analysis code for validation</a:t>
            </a:r>
          </a:p>
        </p:txBody>
      </p:sp>
      <p:sp>
        <p:nvSpPr>
          <p:cNvPr id="26" name="Selected Methods">
            <a:extLst xmlns:a="http://schemas.openxmlformats.org/drawingml/2006/main">
              <a:ext uri="{FF2B5EF4-FFF2-40B4-BE49-F238E27FC236}">
                <a16:creationId xmlns:a16="http://schemas.microsoft.com/office/drawing/2014/main" id="{0ED7701C-02CF-4F0B-AD73-7AF1879DCCE5}"/>
              </a:ext>
            </a:extLst>
          </p:cNvPr>
          <p:cNvSpPr>
            <a:spLocks xmlns:a="http://schemas.openxmlformats.org/drawingml/2006/main" noGrp="1"/>
          </p:cNvSpPr>
          <p:nvPr/>
        </p:nvSpPr>
        <p:spPr>
          <a:xfrm xmlns:a="http://schemas.openxmlformats.org/drawingml/2006/main">
            <a:off x="914400" y="23317200"/>
            <a:ext cx="8229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SELECTED METHODS</a:t>
            </a:r>
          </a:p>
        </p:txBody>
      </p:sp>
      <p:sp>
        <p:nvSpPr>
          <p:cNvPr id="27" name="Prior heading">
            <a:extLst xmlns:a="http://schemas.openxmlformats.org/drawingml/2006/main">
              <a:ext uri="{FF2B5EF4-FFF2-40B4-BE49-F238E27FC236}">
                <a16:creationId xmlns:a16="http://schemas.microsoft.com/office/drawing/2014/main" id="{496C1755-A926-4EB1-AC86-D9959A322558}"/>
              </a:ext>
            </a:extLst>
          </p:cNvPr>
          <p:cNvSpPr>
            <a:spLocks xmlns:a="http://schemas.openxmlformats.org/drawingml/2006/main" noGrp="1"/>
          </p:cNvSpPr>
          <p:nvPr/>
        </p:nvSpPr>
        <p:spPr>
          <a:xfrm xmlns:a="http://schemas.openxmlformats.org/drawingml/2006/main">
            <a:off x="914400" y="2414016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synpmx_prior()</a:t>
            </a:r>
          </a:p>
        </p:txBody>
      </p:sp>
      <p:sp>
        <p:nvSpPr>
          <p:cNvPr id="28" name="Prior copy">
            <a:extLst xmlns:a="http://schemas.openxmlformats.org/drawingml/2006/main">
              <a:ext uri="{FF2B5EF4-FFF2-40B4-BE49-F238E27FC236}">
                <a16:creationId xmlns:a16="http://schemas.microsoft.com/office/drawing/2014/main" id="{301E3B32-E985-4E08-A8CC-109EE804B57C}"/>
              </a:ext>
            </a:extLst>
          </p:cNvPr>
          <p:cNvSpPr>
            <a:spLocks xmlns:a="http://schemas.openxmlformats.org/drawingml/2006/main" noGrp="1"/>
          </p:cNvSpPr>
          <p:nvPr/>
        </p:nvSpPr>
        <p:spPr>
          <a:xfrm xmlns:a="http://schemas.openxmlformats.org/drawingml/2006/main">
            <a:off x="914400" y="24780240"/>
            <a:ext cx="8229600" cy="1920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Simulate a public model and trial design. Uses no private data and has a reportable fingerprint.</a:t>
            </a:r>
          </a:p>
        </p:txBody>
      </p:sp>
      <p:sp>
        <p:nvSpPr>
          <p:cNvPr id="29" name="Model heading">
            <a:extLst xmlns:a="http://schemas.openxmlformats.org/drawingml/2006/main">
              <a:ext uri="{FF2B5EF4-FFF2-40B4-BE49-F238E27FC236}">
                <a16:creationId xmlns:a16="http://schemas.microsoft.com/office/drawing/2014/main" id="{DE6A3627-38AB-494D-BB00-7CE9ECB5803F}"/>
              </a:ext>
            </a:extLst>
          </p:cNvPr>
          <p:cNvSpPr>
            <a:spLocks xmlns:a="http://schemas.openxmlformats.org/drawingml/2006/main" noGrp="1"/>
          </p:cNvSpPr>
          <p:nvPr/>
        </p:nvSpPr>
        <p:spPr>
          <a:xfrm xmlns:a="http://schemas.openxmlformats.org/drawingml/2006/main">
            <a:off x="914400" y="2697480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synpmx_model()</a:t>
            </a:r>
          </a:p>
        </p:txBody>
      </p:sp>
      <p:sp>
        <p:nvSpPr>
          <p:cNvPr id="30" name="Model copy">
            <a:extLst xmlns:a="http://schemas.openxmlformats.org/drawingml/2006/main">
              <a:ext uri="{FF2B5EF4-FFF2-40B4-BE49-F238E27FC236}">
                <a16:creationId xmlns:a16="http://schemas.microsoft.com/office/drawing/2014/main" id="{3650B300-F3FC-4A2D-8960-757B6E44E541}"/>
              </a:ext>
            </a:extLst>
          </p:cNvPr>
          <p:cNvSpPr>
            <a:spLocks xmlns:a="http://schemas.openxmlformats.org/drawingml/2006/main" noGrp="1"/>
          </p:cNvSpPr>
          <p:nvPr/>
        </p:nvSpPr>
        <p:spPr>
          <a:xfrm xmlns:a="http://schemas.openxmlformats.org/drawingml/2006/main">
            <a:off x="914400" y="27614880"/>
            <a:ext cx="8229600" cy="2651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Fit longitudinal pharmacokinetic (PK) and pharmacodynamic (PD) models, then simulate new subjects. No formal privacy guarantee. Reportable fingerprint.</a:t>
            </a:r>
          </a:p>
        </p:txBody>
      </p:sp>
      <p:sp>
        <p:nvSpPr>
          <p:cNvPr id="31" name="Avatar heading">
            <a:extLst xmlns:a="http://schemas.openxmlformats.org/drawingml/2006/main">
              <a:ext uri="{FF2B5EF4-FFF2-40B4-BE49-F238E27FC236}">
                <a16:creationId xmlns:a16="http://schemas.microsoft.com/office/drawing/2014/main" id="{AF70610C-BD79-49EB-A2ED-790AD399368E}"/>
              </a:ext>
            </a:extLst>
          </p:cNvPr>
          <p:cNvSpPr>
            <a:spLocks xmlns:a="http://schemas.openxmlformats.org/drawingml/2006/main" noGrp="1"/>
          </p:cNvSpPr>
          <p:nvPr/>
        </p:nvSpPr>
        <p:spPr>
          <a:xfrm xmlns:a="http://schemas.openxmlformats.org/drawingml/2006/main">
            <a:off x="914400" y="3049524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synpmx_avatar()</a:t>
            </a:r>
          </a:p>
        </p:txBody>
      </p:sp>
      <p:sp>
        <p:nvSpPr>
          <p:cNvPr id="32" name="Avatar copy">
            <a:extLst xmlns:a="http://schemas.openxmlformats.org/drawingml/2006/main">
              <a:ext uri="{FF2B5EF4-FFF2-40B4-BE49-F238E27FC236}">
                <a16:creationId xmlns:a16="http://schemas.microsoft.com/office/drawing/2014/main" id="{D5CD93CD-54E0-4341-ABBD-E43698DD0D6A}"/>
              </a:ext>
            </a:extLst>
          </p:cNvPr>
          <p:cNvSpPr>
            <a:spLocks xmlns:a="http://schemas.openxmlformats.org/drawingml/2006/main" noGrp="1"/>
          </p:cNvSpPr>
          <p:nvPr/>
        </p:nvSpPr>
        <p:spPr>
          <a:xfrm xmlns:a="http://schemas.openxmlformats.org/drawingml/2006/main">
            <a:off x="914400" y="31135320"/>
            <a:ext cx="8229600" cy="2377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Blend similar patient profiles using an AVATAR-inspired method [1]. No formal privacy guarantee or reportable fingerprint.</a:t>
            </a:r>
          </a:p>
        </p:txBody>
      </p:sp>
      <p:sp>
        <p:nvSpPr>
          <p:cNvPr id="33" name="Fingerprint definition">
            <a:extLst xmlns:a="http://schemas.openxmlformats.org/drawingml/2006/main">
              <a:ext uri="{FF2B5EF4-FFF2-40B4-BE49-F238E27FC236}">
                <a16:creationId xmlns:a16="http://schemas.microsoft.com/office/drawing/2014/main" id="{69A93EC5-184F-45E5-9B68-388D9BA424D7}"/>
              </a:ext>
            </a:extLst>
          </p:cNvPr>
          <p:cNvSpPr>
            <a:spLocks xmlns:a="http://schemas.openxmlformats.org/drawingml/2006/main" noGrp="1"/>
          </p:cNvSpPr>
          <p:nvPr/>
        </p:nvSpPr>
        <p:spPr>
          <a:xfrm xmlns:a="http://schemas.openxmlformats.org/drawingml/2006/main">
            <a:off x="914400" y="33832800"/>
            <a:ext cx="8229600" cy="26517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A reportable fingerprint is a compact model-and-parameter representation that generates synthetic data without retaining source patient profiles.</a:t>
            </a:r>
          </a:p>
        </p:txBody>
      </p:sp>
      <p:sp>
        <p:nvSpPr>
          <p:cNvPr id="34" name="Fitted-Model Generator">
            <a:extLst xmlns:a="http://schemas.openxmlformats.org/drawingml/2006/main">
              <a:ext uri="{FF2B5EF4-FFF2-40B4-BE49-F238E27FC236}">
                <a16:creationId xmlns:a16="http://schemas.microsoft.com/office/drawing/2014/main" id="{221576D0-A794-4174-896A-99E474C6699E}"/>
              </a:ext>
            </a:extLst>
          </p:cNvPr>
          <p:cNvSpPr>
            <a:spLocks xmlns:a="http://schemas.openxmlformats.org/drawingml/2006/main" noGrp="1"/>
          </p:cNvSpPr>
          <p:nvPr/>
        </p:nvSpPr>
        <p:spPr>
          <a:xfrm xmlns:a="http://schemas.openxmlformats.org/drawingml/2006/main">
            <a:off x="10058400" y="8046720"/>
            <a:ext cx="8229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FITTED-MODEL GENERATOR</a:t>
            </a:r>
          </a:p>
        </p:txBody>
      </p:sp>
      <p:sp>
        <p:nvSpPr>
          <p:cNvPr id="35" name="Algorithm label">
            <a:extLst xmlns:a="http://schemas.openxmlformats.org/drawingml/2006/main">
              <a:ext uri="{FF2B5EF4-FFF2-40B4-BE49-F238E27FC236}">
                <a16:creationId xmlns:a16="http://schemas.microsoft.com/office/drawing/2014/main" id="{C34641A6-527D-42C6-B24B-F0CF915514A2}"/>
              </a:ext>
            </a:extLst>
          </p:cNvPr>
          <p:cNvSpPr>
            <a:spLocks xmlns:a="http://schemas.openxmlformats.org/drawingml/2006/main" noGrp="1"/>
          </p:cNvSpPr>
          <p:nvPr/>
        </p:nvSpPr>
        <p:spPr>
          <a:xfrm xmlns:a="http://schemas.openxmlformats.org/drawingml/2006/main">
            <a:off x="10058400" y="886968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1">
                <a:solidFill>
                  <a:srgbClr val="202020"/>
                </a:solidFill>
                <a:latin typeface="Arial"/>
                <a:ea typeface="Arial"/>
                <a:cs typeface="Arial"/>
              </a:defRPr>
            </a:pPr>
            <a:r>
              <a:rPr sz="2600" b="1">
                <a:solidFill>
                  <a:srgbClr val="202020"/>
                </a:solidFill>
                <a:latin typeface="Arial"/>
                <a:ea typeface="Arial"/>
                <a:cs typeface="Arial"/>
              </a:rPr>
              <a:t>Figure 2. synpmx_model()</a:t>
            </a:r>
          </a:p>
        </p:txBody>
      </p:sp>
      <p:sp>
        <p:nvSpPr>
          <p:cNvPr id="36" name="Disclosure safeguards">
            <a:extLst xmlns:a="http://schemas.openxmlformats.org/drawingml/2006/main">
              <a:ext uri="{FF2B5EF4-FFF2-40B4-BE49-F238E27FC236}">
                <a16:creationId xmlns:a16="http://schemas.microsoft.com/office/drawing/2014/main" id="{17C2724F-1FF5-4A49-94A5-8D2EAC7C700D}"/>
              </a:ext>
            </a:extLst>
          </p:cNvPr>
          <p:cNvSpPr>
            <a:spLocks xmlns:a="http://schemas.openxmlformats.org/drawingml/2006/main" noGrp="1"/>
          </p:cNvSpPr>
          <p:nvPr/>
        </p:nvSpPr>
        <p:spPr>
          <a:xfrm xmlns:a="http://schemas.openxmlformats.org/drawingml/2006/main">
            <a:off x="10058400" y="987552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Disclosure safeguards</a:t>
            </a:r>
          </a:p>
        </p:txBody>
      </p:sp>
      <p:sp>
        <p:nvSpPr>
          <p:cNvPr id="37" name="Disclosure safeguards copy">
            <a:extLst xmlns:a="http://schemas.openxmlformats.org/drawingml/2006/main">
              <a:ext uri="{FF2B5EF4-FFF2-40B4-BE49-F238E27FC236}">
                <a16:creationId xmlns:a16="http://schemas.microsoft.com/office/drawing/2014/main" id="{98CC281A-A464-4D52-89FB-C0C9B6205BC4}"/>
              </a:ext>
            </a:extLst>
          </p:cNvPr>
          <p:cNvSpPr>
            <a:spLocks xmlns:a="http://schemas.openxmlformats.org/drawingml/2006/main" noGrp="1"/>
          </p:cNvSpPr>
          <p:nvPr/>
        </p:nvSpPr>
        <p:spPr>
          <a:xfrm xmlns:a="http://schemas.openxmlformats.org/drawingml/2006/main">
            <a:off x="10058400" y="10561320"/>
            <a:ext cx="8229600" cy="30632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Generate new identifiers. Drop columns without defined roles and arms with fewer than 3 patients. Exclude categorical levels held by fewer than 3 patients. Thresholds are configurable.</a:t>
            </a:r>
          </a:p>
        </p:txBody>
      </p:sp>
      <p:sp>
        <p:nvSpPr>
          <p:cNvPr id="38" name="Dosing">
            <a:extLst xmlns:a="http://schemas.openxmlformats.org/drawingml/2006/main">
              <a:ext uri="{FF2B5EF4-FFF2-40B4-BE49-F238E27FC236}">
                <a16:creationId xmlns:a16="http://schemas.microsoft.com/office/drawing/2014/main" id="{6F95F90D-4765-4B07-BA66-14C0B5EC1809}"/>
              </a:ext>
            </a:extLst>
          </p:cNvPr>
          <p:cNvSpPr>
            <a:spLocks xmlns:a="http://schemas.openxmlformats.org/drawingml/2006/main" noGrp="1"/>
          </p:cNvSpPr>
          <p:nvPr/>
        </p:nvSpPr>
        <p:spPr>
          <a:xfrm xmlns:a="http://schemas.openxmlformats.org/drawingml/2006/main">
            <a:off x="10058400" y="1412748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Dosing</a:t>
            </a:r>
          </a:p>
        </p:txBody>
      </p:sp>
      <p:sp>
        <p:nvSpPr>
          <p:cNvPr id="39" name="Dosing copy">
            <a:extLst xmlns:a="http://schemas.openxmlformats.org/drawingml/2006/main">
              <a:ext uri="{FF2B5EF4-FFF2-40B4-BE49-F238E27FC236}">
                <a16:creationId xmlns:a16="http://schemas.microsoft.com/office/drawing/2014/main" id="{E28D2C1B-2038-4240-90D3-D12B715D82C1}"/>
              </a:ext>
            </a:extLst>
          </p:cNvPr>
          <p:cNvSpPr>
            <a:spLocks xmlns:a="http://schemas.openxmlformats.org/drawingml/2006/main" noGrp="1"/>
          </p:cNvSpPr>
          <p:nvPr/>
        </p:nvSpPr>
        <p:spPr>
          <a:xfrm xmlns:a="http://schemas.openxmlformats.org/drawingml/2006/main">
            <a:off x="10058400" y="14813280"/>
            <a:ext cx="8229600" cy="2468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Estimate constant per-cycle probabilities within each arm for skipped cycles, dose reductions and treatment discontinuation. Simulate new schedules.</a:t>
            </a:r>
          </a:p>
        </p:txBody>
      </p:sp>
      <p:sp>
        <p:nvSpPr>
          <p:cNvPr id="40" name="Observations">
            <a:extLst xmlns:a="http://schemas.openxmlformats.org/drawingml/2006/main">
              <a:ext uri="{FF2B5EF4-FFF2-40B4-BE49-F238E27FC236}">
                <a16:creationId xmlns:a16="http://schemas.microsoft.com/office/drawing/2014/main" id="{64EEAB72-1D02-4F8B-A519-613C57C14DD3}"/>
              </a:ext>
            </a:extLst>
          </p:cNvPr>
          <p:cNvSpPr>
            <a:spLocks xmlns:a="http://schemas.openxmlformats.org/drawingml/2006/main" noGrp="1"/>
          </p:cNvSpPr>
          <p:nvPr/>
        </p:nvSpPr>
        <p:spPr>
          <a:xfrm xmlns:a="http://schemas.openxmlformats.org/drawingml/2006/main">
            <a:off x="10058400" y="1778508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Observations</a:t>
            </a:r>
          </a:p>
        </p:txBody>
      </p:sp>
      <p:sp>
        <p:nvSpPr>
          <p:cNvPr id="41" name="Observations copy">
            <a:extLst xmlns:a="http://schemas.openxmlformats.org/drawingml/2006/main">
              <a:ext uri="{FF2B5EF4-FFF2-40B4-BE49-F238E27FC236}">
                <a16:creationId xmlns:a16="http://schemas.microsoft.com/office/drawing/2014/main" id="{7D446E86-1230-4729-ACFA-B33AA8D6B8C7}"/>
              </a:ext>
            </a:extLst>
          </p:cNvPr>
          <p:cNvSpPr>
            <a:spLocks xmlns:a="http://schemas.openxmlformats.org/drawingml/2006/main" noGrp="1"/>
          </p:cNvSpPr>
          <p:nvPr/>
        </p:nvSpPr>
        <p:spPr>
          <a:xfrm xmlns:a="http://schemas.openxmlformats.org/drawingml/2006/main">
            <a:off x="10058400" y="18470880"/>
            <a:ext cx="8229600" cy="18745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Estimate attendance probabilities within each arm, endpoint and nominal visit. Simulate missed observations.</a:t>
            </a:r>
          </a:p>
        </p:txBody>
      </p:sp>
      <p:sp>
        <p:nvSpPr>
          <p:cNvPr id="42" name="Population PK">
            <a:extLst xmlns:a="http://schemas.openxmlformats.org/drawingml/2006/main">
              <a:ext uri="{FF2B5EF4-FFF2-40B4-BE49-F238E27FC236}">
                <a16:creationId xmlns:a16="http://schemas.microsoft.com/office/drawing/2014/main" id="{102EBA02-26E6-4D74-9B1B-D42A1D61BC71}"/>
              </a:ext>
            </a:extLst>
          </p:cNvPr>
          <p:cNvSpPr>
            <a:spLocks xmlns:a="http://schemas.openxmlformats.org/drawingml/2006/main" noGrp="1"/>
          </p:cNvSpPr>
          <p:nvPr/>
        </p:nvSpPr>
        <p:spPr>
          <a:xfrm xmlns:a="http://schemas.openxmlformats.org/drawingml/2006/main">
            <a:off x="10058400" y="2084832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Population PK</a:t>
            </a:r>
          </a:p>
        </p:txBody>
      </p:sp>
      <p:sp>
        <p:nvSpPr>
          <p:cNvPr id="43" name="Population PK copy">
            <a:extLst xmlns:a="http://schemas.openxmlformats.org/drawingml/2006/main">
              <a:ext uri="{FF2B5EF4-FFF2-40B4-BE49-F238E27FC236}">
                <a16:creationId xmlns:a16="http://schemas.microsoft.com/office/drawing/2014/main" id="{6F6AD6F6-D02D-41EA-A92D-D38D1A4FBDDB}"/>
              </a:ext>
            </a:extLst>
          </p:cNvPr>
          <p:cNvSpPr>
            <a:spLocks xmlns:a="http://schemas.openxmlformats.org/drawingml/2006/main" noGrp="1"/>
          </p:cNvSpPr>
          <p:nvPr/>
        </p:nvSpPr>
        <p:spPr>
          <a:xfrm xmlns:a="http://schemas.openxmlformats.org/drawingml/2006/main">
            <a:off x="10058400" y="21534120"/>
            <a:ext cx="8229600" cy="3520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Fit a two-compartment model with nlmixr2. Fall back to one compartment if convergence or generation checks fail. An optimizer-stall warning alone does not reject a usable fit. Users can specify a model.</a:t>
            </a:r>
          </a:p>
        </p:txBody>
      </p:sp>
      <p:sp>
        <p:nvSpPr>
          <p:cNvPr id="44" name="PD">
            <a:extLst xmlns:a="http://schemas.openxmlformats.org/drawingml/2006/main">
              <a:ext uri="{FF2B5EF4-FFF2-40B4-BE49-F238E27FC236}">
                <a16:creationId xmlns:a16="http://schemas.microsoft.com/office/drawing/2014/main" id="{7D3D98D2-65E4-44EB-8C81-D48D733DD983}"/>
              </a:ext>
            </a:extLst>
          </p:cNvPr>
          <p:cNvSpPr>
            <a:spLocks xmlns:a="http://schemas.openxmlformats.org/drawingml/2006/main" noGrp="1"/>
          </p:cNvSpPr>
          <p:nvPr/>
        </p:nvSpPr>
        <p:spPr>
          <a:xfrm xmlns:a="http://schemas.openxmlformats.org/drawingml/2006/main">
            <a:off x="10058400" y="2555748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PD</a:t>
            </a:r>
          </a:p>
        </p:txBody>
      </p:sp>
      <p:sp>
        <p:nvSpPr>
          <p:cNvPr id="45" name="PD copy">
            <a:extLst xmlns:a="http://schemas.openxmlformats.org/drawingml/2006/main">
              <a:ext uri="{FF2B5EF4-FFF2-40B4-BE49-F238E27FC236}">
                <a16:creationId xmlns:a16="http://schemas.microsoft.com/office/drawing/2014/main" id="{CC835F7C-4804-4B9D-ADFE-C5729D9A9398}"/>
              </a:ext>
            </a:extLst>
          </p:cNvPr>
          <p:cNvSpPr>
            <a:spLocks xmlns:a="http://schemas.openxmlformats.org/drawingml/2006/main" noGrp="1"/>
          </p:cNvSpPr>
          <p:nvPr/>
        </p:nvSpPr>
        <p:spPr>
          <a:xfrm xmlns:a="http://schemas.openxmlformats.org/drawingml/2006/main">
            <a:off x="10058400" y="26243280"/>
            <a:ext cx="8229600" cy="3611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Fit constant, linear or exponential time courses with subject variability and residual error. Pool arms by default. Use pd_by_arm = TRUE for differences between arms. Sample discrete endpoints by arm and visit.</a:t>
            </a:r>
          </a:p>
        </p:txBody>
      </p:sp>
      <p:sp>
        <p:nvSpPr>
          <p:cNvPr id="46" name="Limits of quantification">
            <a:extLst xmlns:a="http://schemas.openxmlformats.org/drawingml/2006/main">
              <a:ext uri="{FF2B5EF4-FFF2-40B4-BE49-F238E27FC236}">
                <a16:creationId xmlns:a16="http://schemas.microsoft.com/office/drawing/2014/main" id="{BB485ED0-847A-479F-A4E4-0D944E41270A}"/>
              </a:ext>
            </a:extLst>
          </p:cNvPr>
          <p:cNvSpPr>
            <a:spLocks xmlns:a="http://schemas.openxmlformats.org/drawingml/2006/main" noGrp="1"/>
          </p:cNvSpPr>
          <p:nvPr/>
        </p:nvSpPr>
        <p:spPr>
          <a:xfrm xmlns:a="http://schemas.openxmlformats.org/drawingml/2006/main">
            <a:off x="10058400" y="30358080"/>
            <a:ext cx="82296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00" b="1">
                <a:solidFill>
                  <a:srgbClr val="202020"/>
                </a:solidFill>
                <a:latin typeface="Arial"/>
                <a:ea typeface="Arial"/>
                <a:cs typeface="Arial"/>
              </a:defRPr>
            </a:pPr>
            <a:r>
              <a:rPr sz="2800" b="1">
                <a:solidFill>
                  <a:srgbClr val="202020"/>
                </a:solidFill>
                <a:latin typeface="Arial"/>
                <a:ea typeface="Arial"/>
                <a:cs typeface="Arial"/>
              </a:rPr>
              <a:t>Limits of quantification</a:t>
            </a:r>
          </a:p>
        </p:txBody>
      </p:sp>
      <p:sp>
        <p:nvSpPr>
          <p:cNvPr id="47" name="Limits of quantification copy">
            <a:extLst xmlns:a="http://schemas.openxmlformats.org/drawingml/2006/main">
              <a:ext uri="{FF2B5EF4-FFF2-40B4-BE49-F238E27FC236}">
                <a16:creationId xmlns:a16="http://schemas.microsoft.com/office/drawing/2014/main" id="{ABB0C9C1-0E28-4DC7-8C55-06BC8697E2AD}"/>
              </a:ext>
            </a:extLst>
          </p:cNvPr>
          <p:cNvSpPr>
            <a:spLocks xmlns:a="http://schemas.openxmlformats.org/drawingml/2006/main" noGrp="1"/>
          </p:cNvSpPr>
          <p:nvPr/>
        </p:nvSpPr>
        <p:spPr>
          <a:xfrm xmlns:a="http://schemas.openxmlformats.org/drawingml/2006/main">
            <a:off x="10058400" y="31043880"/>
            <a:ext cx="8229600" cy="26974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Apply declared censoring limits. Otherwise, use half the smallest positive observation as a heuristic lower bound for predominantly positive continuous endpoints.</a:t>
            </a:r>
          </a:p>
        </p:txBody>
      </p:sp>
      <p:sp>
        <p:nvSpPr>
          <p:cNvPr id="48" name="Worked Example">
            <a:extLst xmlns:a="http://schemas.openxmlformats.org/drawingml/2006/main">
              <a:ext uri="{FF2B5EF4-FFF2-40B4-BE49-F238E27FC236}">
                <a16:creationId xmlns:a16="http://schemas.microsoft.com/office/drawing/2014/main" id="{7796E1B4-6A11-46C3-9B6E-BD613274C48F}"/>
              </a:ext>
            </a:extLst>
          </p:cNvPr>
          <p:cNvSpPr>
            <a:spLocks xmlns:a="http://schemas.openxmlformats.org/drawingml/2006/main" noGrp="1"/>
          </p:cNvSpPr>
          <p:nvPr/>
        </p:nvSpPr>
        <p:spPr>
          <a:xfrm xmlns:a="http://schemas.openxmlformats.org/drawingml/2006/main">
            <a:off x="19202400" y="8046720"/>
            <a:ext cx="12801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WORKED EXAMPLE</a:t>
            </a:r>
          </a:p>
        </p:txBody>
      </p:sp>
      <p:sp>
        <p:nvSpPr>
          <p:cNvPr id="49" name="Example intro">
            <a:extLst xmlns:a="http://schemas.openxmlformats.org/drawingml/2006/main">
              <a:ext uri="{FF2B5EF4-FFF2-40B4-BE49-F238E27FC236}">
                <a16:creationId xmlns:a16="http://schemas.microsoft.com/office/drawing/2014/main" id="{8D48B24B-C940-4449-8967-77BB67BF4E53}"/>
              </a:ext>
            </a:extLst>
          </p:cNvPr>
          <p:cNvSpPr>
            <a:spLocks xmlns:a="http://schemas.openxmlformats.org/drawingml/2006/main" noGrp="1"/>
          </p:cNvSpPr>
          <p:nvPr/>
        </p:nvSpPr>
        <p:spPr>
          <a:xfrm xmlns:a="http://schemas.openxmlformats.org/drawingml/2006/main">
            <a:off x="19202400" y="8823960"/>
            <a:ext cx="12801600" cy="13258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00" b="0">
                <a:solidFill>
                  <a:srgbClr val="202020"/>
                </a:solidFill>
                <a:latin typeface="Arial"/>
                <a:ea typeface="Arial"/>
                <a:cs typeface="Arial"/>
              </a:defRPr>
            </a:pPr>
            <a:r>
              <a:rPr sz="2600" b="0">
                <a:solidFill>
                  <a:srgbClr val="202020"/>
                </a:solidFill>
                <a:latin typeface="Arial"/>
                <a:ea typeface="Arial"/>
                <a:cs typeface="Arial"/>
              </a:rPr>
              <a:t>Public xgxr::mad data combines PK concentrations with continuous, ordinal, count and binary PD endpoints.</a:t>
            </a:r>
          </a:p>
        </p:txBody>
      </p:sp>
      <p:sp>
        <p:nvSpPr>
          <p:cNvPr id="50" name="PK figure">
            <a:extLst xmlns:a="http://schemas.openxmlformats.org/drawingml/2006/main">
              <a:ext uri="{FF2B5EF4-FFF2-40B4-BE49-F238E27FC236}">
                <a16:creationId xmlns:a16="http://schemas.microsoft.com/office/drawing/2014/main" id="{43EF08A2-E3D6-4749-8E60-DA549366F11F}"/>
              </a:ext>
            </a:extLst>
          </p:cNvPr>
          <p:cNvSpPr>
            <a:spLocks xmlns:a="http://schemas.openxmlformats.org/drawingml/2006/main" noGrp="1"/>
          </p:cNvSpPr>
          <p:nvPr/>
        </p:nvSpPr>
        <p:spPr>
          <a:xfrm xmlns:a="http://schemas.openxmlformats.org/drawingml/2006/main">
            <a:off x="19202400" y="10607040"/>
            <a:ext cx="12801600" cy="557784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51" name="PK figure label">
            <a:extLst xmlns:a="http://schemas.openxmlformats.org/drawingml/2006/main">
              <a:ext uri="{FF2B5EF4-FFF2-40B4-BE49-F238E27FC236}">
                <a16:creationId xmlns:a16="http://schemas.microsoft.com/office/drawing/2014/main" id="{51406F23-DD74-4D0B-8F29-65FDF44205B5}"/>
              </a:ext>
            </a:extLst>
          </p:cNvPr>
          <p:cNvSpPr>
            <a:spLocks xmlns:a="http://schemas.openxmlformats.org/drawingml/2006/main" noGrp="1"/>
          </p:cNvSpPr>
          <p:nvPr/>
        </p:nvSpPr>
        <p:spPr>
          <a:xfrm xmlns:a="http://schemas.openxmlformats.org/drawingml/2006/main">
            <a:off x="19412712" y="10835640"/>
            <a:ext cx="12380976" cy="512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Figure 3a. PK profiles over the first dosing interval</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[Insert mad-pk-profiles figure]</a:t>
            </a:r>
          </a:p>
        </p:txBody>
      </p:sp>
      <p:sp>
        <p:nvSpPr>
          <p:cNvPr id="52" name="PK caption">
            <a:extLst xmlns:a="http://schemas.openxmlformats.org/drawingml/2006/main">
              <a:ext uri="{FF2B5EF4-FFF2-40B4-BE49-F238E27FC236}">
                <a16:creationId xmlns:a16="http://schemas.microsoft.com/office/drawing/2014/main" id="{0EBAB751-666F-4C65-BA62-49582F2B0E96}"/>
              </a:ext>
            </a:extLst>
          </p:cNvPr>
          <p:cNvSpPr>
            <a:spLocks xmlns:a="http://schemas.openxmlformats.org/drawingml/2006/main" noGrp="1"/>
          </p:cNvSpPr>
          <p:nvPr/>
        </p:nvSpPr>
        <p:spPr>
          <a:xfrm xmlns:a="http://schemas.openxmlformats.org/drawingml/2006/main">
            <a:off x="19202400" y="16413480"/>
            <a:ext cx="12801600" cy="1005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The accepted two-compartment model represents the peak and biphasic decline.</a:t>
            </a:r>
          </a:p>
        </p:txBody>
      </p:sp>
      <p:sp>
        <p:nvSpPr>
          <p:cNvPr id="53" name="PD figure">
            <a:extLst xmlns:a="http://schemas.openxmlformats.org/drawingml/2006/main">
              <a:ext uri="{FF2B5EF4-FFF2-40B4-BE49-F238E27FC236}">
                <a16:creationId xmlns:a16="http://schemas.microsoft.com/office/drawing/2014/main" id="{29C53554-EA02-48F9-B553-46122E6D1A02}"/>
              </a:ext>
            </a:extLst>
          </p:cNvPr>
          <p:cNvSpPr>
            <a:spLocks xmlns:a="http://schemas.openxmlformats.org/drawingml/2006/main" noGrp="1"/>
          </p:cNvSpPr>
          <p:nvPr/>
        </p:nvSpPr>
        <p:spPr>
          <a:xfrm xmlns:a="http://schemas.openxmlformats.org/drawingml/2006/main">
            <a:off x="19202400" y="17876520"/>
            <a:ext cx="12801600" cy="557784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54" name="PD figure label">
            <a:extLst xmlns:a="http://schemas.openxmlformats.org/drawingml/2006/main">
              <a:ext uri="{FF2B5EF4-FFF2-40B4-BE49-F238E27FC236}">
                <a16:creationId xmlns:a16="http://schemas.microsoft.com/office/drawing/2014/main" id="{7C20F5F1-133E-4358-95CB-6D7D1373B662}"/>
              </a:ext>
            </a:extLst>
          </p:cNvPr>
          <p:cNvSpPr>
            <a:spLocks xmlns:a="http://schemas.openxmlformats.org/drawingml/2006/main" noGrp="1"/>
          </p:cNvSpPr>
          <p:nvPr/>
        </p:nvSpPr>
        <p:spPr>
          <a:xfrm xmlns:a="http://schemas.openxmlformats.org/drawingml/2006/main">
            <a:off x="19412712" y="18105120"/>
            <a:ext cx="12380976" cy="5120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Figure 3b. Continuous PD profiles over study time</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[Insert mad-pd-profiles figure]</a:t>
            </a:r>
          </a:p>
        </p:txBody>
      </p:sp>
      <p:sp>
        <p:nvSpPr>
          <p:cNvPr id="55" name="PD caption">
            <a:extLst xmlns:a="http://schemas.openxmlformats.org/drawingml/2006/main">
              <a:ext uri="{FF2B5EF4-FFF2-40B4-BE49-F238E27FC236}">
                <a16:creationId xmlns:a16="http://schemas.microsoft.com/office/drawing/2014/main" id="{C53325E3-2DB2-470D-9B09-3502D601236B}"/>
              </a:ext>
            </a:extLst>
          </p:cNvPr>
          <p:cNvSpPr>
            <a:spLocks xmlns:a="http://schemas.openxmlformats.org/drawingml/2006/main" noGrp="1"/>
          </p:cNvSpPr>
          <p:nvPr/>
        </p:nvSpPr>
        <p:spPr>
          <a:xfrm xmlns:a="http://schemas.openxmlformats.org/drawingml/2006/main">
            <a:off x="19202400" y="23682960"/>
            <a:ext cx="12801600" cy="12801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Pooling arms removes between-arm response differences. Use pd_by_arm = TRUE to fit time courses by arm.</a:t>
            </a:r>
          </a:p>
        </p:txBody>
      </p:sp>
      <p:sp>
        <p:nvSpPr>
          <p:cNvPr id="56" name="Distribution figure">
            <a:extLst xmlns:a="http://schemas.openxmlformats.org/drawingml/2006/main">
              <a:ext uri="{FF2B5EF4-FFF2-40B4-BE49-F238E27FC236}">
                <a16:creationId xmlns:a16="http://schemas.microsoft.com/office/drawing/2014/main" id="{F58B5449-6D12-4F3A-B853-6F68FABE2F96}"/>
              </a:ext>
            </a:extLst>
          </p:cNvPr>
          <p:cNvSpPr>
            <a:spLocks xmlns:a="http://schemas.openxmlformats.org/drawingml/2006/main" noGrp="1"/>
          </p:cNvSpPr>
          <p:nvPr/>
        </p:nvSpPr>
        <p:spPr>
          <a:xfrm xmlns:a="http://schemas.openxmlformats.org/drawingml/2006/main">
            <a:off x="19202400" y="25374600"/>
            <a:ext cx="12801600" cy="475488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57" name="Distribution figure label">
            <a:extLst xmlns:a="http://schemas.openxmlformats.org/drawingml/2006/main">
              <a:ext uri="{FF2B5EF4-FFF2-40B4-BE49-F238E27FC236}">
                <a16:creationId xmlns:a16="http://schemas.microsoft.com/office/drawing/2014/main" id="{8D8334CD-ACE5-43C7-BEE5-D46B26B1CA24}"/>
              </a:ext>
            </a:extLst>
          </p:cNvPr>
          <p:cNvSpPr>
            <a:spLocks xmlns:a="http://schemas.openxmlformats.org/drawingml/2006/main" noGrp="1"/>
          </p:cNvSpPr>
          <p:nvPr/>
        </p:nvSpPr>
        <p:spPr>
          <a:xfrm xmlns:a="http://schemas.openxmlformats.org/drawingml/2006/main">
            <a:off x="19412712" y="25603200"/>
            <a:ext cx="12380976" cy="429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Figure 3c. Pooled distributions</a:t>
            </a:r>
          </a:p>
          <a:p xmlns:a="http://schemas.openxmlformats.org/drawingml/2006/main">
            <a:r>
              <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[Insert mad-distributions figure]</a:t>
            </a:r>
          </a:p>
        </p:txBody>
      </p:sp>
      <p:sp>
        <p:nvSpPr>
          <p:cNvPr id="58" name="Distribution caption">
            <a:extLst xmlns:a="http://schemas.openxmlformats.org/drawingml/2006/main">
              <a:ext uri="{FF2B5EF4-FFF2-40B4-BE49-F238E27FC236}">
                <a16:creationId xmlns:a16="http://schemas.microsoft.com/office/drawing/2014/main" id="{4C182159-4779-43CB-92C2-A694428B321D}"/>
              </a:ext>
            </a:extLst>
          </p:cNvPr>
          <p:cNvSpPr>
            <a:spLocks xmlns:a="http://schemas.openxmlformats.org/drawingml/2006/main" noGrp="1"/>
          </p:cNvSpPr>
          <p:nvPr/>
        </p:nvSpPr>
        <p:spPr>
          <a:xfrm xmlns:a="http://schemas.openxmlformats.org/drawingml/2006/main">
            <a:off x="19202400" y="30358080"/>
            <a:ext cx="12801600" cy="14630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Similar pooled distributions can conceal differences in profiles. The scorecard checks structure, distribution changes and potential patient copying.</a:t>
            </a:r>
          </a:p>
        </p:txBody>
      </p:sp>
      <p:sp>
        <p:nvSpPr>
          <p:cNvPr id="59" name="Datasets Evaluated">
            <a:extLst xmlns:a="http://schemas.openxmlformats.org/drawingml/2006/main">
              <a:ext uri="{FF2B5EF4-FFF2-40B4-BE49-F238E27FC236}">
                <a16:creationId xmlns:a16="http://schemas.microsoft.com/office/drawing/2014/main" id="{DD3E3394-5D8B-4700-8D40-34C12DA9A7AE}"/>
              </a:ext>
            </a:extLst>
          </p:cNvPr>
          <p:cNvSpPr>
            <a:spLocks xmlns:a="http://schemas.openxmlformats.org/drawingml/2006/main" noGrp="1"/>
          </p:cNvSpPr>
          <p:nvPr/>
        </p:nvSpPr>
        <p:spPr>
          <a:xfrm xmlns:a="http://schemas.openxmlformats.org/drawingml/2006/main">
            <a:off x="19202400" y="32186880"/>
            <a:ext cx="12801600" cy="6217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00" b="1">
                <a:solidFill>
                  <a:srgbClr val="202020"/>
                </a:solidFill>
                <a:latin typeface="Arial"/>
                <a:ea typeface="Arial"/>
                <a:cs typeface="Arial"/>
              </a:defRPr>
            </a:pPr>
            <a:r>
              <a:rPr sz="3400" b="1">
                <a:solidFill>
                  <a:srgbClr val="202020"/>
                </a:solidFill>
                <a:latin typeface="Arial"/>
                <a:ea typeface="Arial"/>
                <a:cs typeface="Arial"/>
              </a:rPr>
              <a:t>DATASETS EVALUATED</a:t>
            </a:r>
          </a:p>
        </p:txBody>
      </p:sp>
      <p:sp>
        <p:nvSpPr>
          <p:cNvPr id="60" name="Evaluation table">
            <a:extLst xmlns:a="http://schemas.openxmlformats.org/drawingml/2006/main">
              <a:ext uri="{FF2B5EF4-FFF2-40B4-BE49-F238E27FC236}">
                <a16:creationId xmlns:a16="http://schemas.microsoft.com/office/drawing/2014/main" id="{7E4F91B3-3F7F-4873-9A4B-907ECA77A0BE}"/>
              </a:ext>
            </a:extLst>
          </p:cNvPr>
          <p:cNvSpPr>
            <a:spLocks xmlns:a="http://schemas.openxmlformats.org/drawingml/2006/main" noGrp="1"/>
          </p:cNvSpPr>
          <p:nvPr/>
        </p:nvSpPr>
        <p:spPr>
          <a:xfrm xmlns:a="http://schemas.openxmlformats.org/drawingml/2006/main">
            <a:off x="19202400" y="33055560"/>
            <a:ext cx="12801600" cy="416052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61" name="Evaluation table label">
            <a:extLst xmlns:a="http://schemas.openxmlformats.org/drawingml/2006/main">
              <a:ext uri="{FF2B5EF4-FFF2-40B4-BE49-F238E27FC236}">
                <a16:creationId xmlns:a16="http://schemas.microsoft.com/office/drawing/2014/main" id="{4E2404B2-C308-42C6-8A2D-8492B21DBDB2}"/>
              </a:ext>
            </a:extLst>
          </p:cNvPr>
          <p:cNvSpPr>
            <a:spLocks xmlns:a="http://schemas.openxmlformats.org/drawingml/2006/main" noGrp="1"/>
          </p:cNvSpPr>
          <p:nvPr/>
        </p:nvSpPr>
        <p:spPr>
          <a:xfrm xmlns:a="http://schemas.openxmlformats.org/drawingml/2006/main">
            <a:off x="19412712" y="33284160"/>
            <a:ext cx="12380976" cy="3703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[Insert the 10-row dataset table from outline v2]</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Dataset / Patients / Design feature</a:t>
            </a:r>
          </a:p>
        </p:txBody>
      </p:sp>
      <p:sp>
        <p:nvSpPr>
          <p:cNvPr id="62" name="Footer band">
            <a:extLst xmlns:a="http://schemas.openxmlformats.org/drawingml/2006/main">
              <a:ext uri="{FF2B5EF4-FFF2-40B4-BE49-F238E27FC236}">
                <a16:creationId xmlns:a16="http://schemas.microsoft.com/office/drawing/2014/main" id="{F13DF62D-280C-4F3D-BB24-4EA02F7914A9}"/>
              </a:ext>
            </a:extLst>
          </p:cNvPr>
          <p:cNvSpPr>
            <a:spLocks xmlns:a="http://schemas.openxmlformats.org/drawingml/2006/main" noGrp="1"/>
          </p:cNvSpPr>
          <p:nvPr/>
        </p:nvSpPr>
        <p:spPr>
          <a:xfrm xmlns:a="http://schemas.openxmlformats.org/drawingml/2006/main">
            <a:off x="914400" y="37764720"/>
            <a:ext cx="31089600" cy="5212080"/>
          </a:xfrm>
          <a:prstGeom xmlns:a="http://schemas.openxmlformats.org/drawingml/2006/main" prst="rect">
            <a:avLst/>
          </a:prstGeom>
          <a:solidFill xmlns:a="http://schemas.openxmlformats.org/drawingml/2006/main">
            <a:srgbClr val="F2F2F2"/>
          </a:solidFill>
          <a:ln xmlns:a="http://schemas.openxmlformats.org/drawingml/2006/main" w="0">
            <a:noFill/>
          </a:ln>
        </p:spPr>
      </p:sp>
      <p:sp>
        <p:nvSpPr>
          <p:cNvPr id="63" name="References heading">
            <a:extLst xmlns:a="http://schemas.openxmlformats.org/drawingml/2006/main">
              <a:ext uri="{FF2B5EF4-FFF2-40B4-BE49-F238E27FC236}">
                <a16:creationId xmlns:a16="http://schemas.microsoft.com/office/drawing/2014/main" id="{830BC421-7DAB-45E1-8E67-C09A089A8522}"/>
              </a:ext>
            </a:extLst>
          </p:cNvPr>
          <p:cNvSpPr>
            <a:spLocks xmlns:a="http://schemas.openxmlformats.org/drawingml/2006/main" noGrp="1"/>
          </p:cNvSpPr>
          <p:nvPr/>
        </p:nvSpPr>
        <p:spPr>
          <a:xfrm xmlns:a="http://schemas.openxmlformats.org/drawingml/2006/main">
            <a:off x="1188720" y="37993320"/>
            <a:ext cx="1554480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1">
                <a:solidFill>
                  <a:srgbClr val="202020"/>
                </a:solidFill>
                <a:latin typeface="Arial"/>
                <a:ea typeface="Arial"/>
                <a:cs typeface="Arial"/>
              </a:defRPr>
            </a:pPr>
            <a:r>
              <a:rPr sz="3200" b="1">
                <a:solidFill>
                  <a:srgbClr val="202020"/>
                </a:solidFill>
                <a:latin typeface="Arial"/>
                <a:ea typeface="Arial"/>
                <a:cs typeface="Arial"/>
              </a:rPr>
              <a:t>REFERENCES</a:t>
            </a:r>
          </a:p>
        </p:txBody>
      </p:sp>
      <p:sp>
        <p:nvSpPr>
          <p:cNvPr id="64" name="References">
            <a:extLst xmlns:a="http://schemas.openxmlformats.org/drawingml/2006/main">
              <a:ext uri="{FF2B5EF4-FFF2-40B4-BE49-F238E27FC236}">
                <a16:creationId xmlns:a16="http://schemas.microsoft.com/office/drawing/2014/main" id="{FAF74469-77F5-4013-98CE-2BAA8EBE51AB}"/>
              </a:ext>
            </a:extLst>
          </p:cNvPr>
          <p:cNvSpPr>
            <a:spLocks xmlns:a="http://schemas.openxmlformats.org/drawingml/2006/main" noGrp="1"/>
          </p:cNvSpPr>
          <p:nvPr/>
        </p:nvSpPr>
        <p:spPr>
          <a:xfrm xmlns:a="http://schemas.openxmlformats.org/drawingml/2006/main">
            <a:off x="1188720" y="38724840"/>
            <a:ext cx="14813280" cy="3520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1. Destere A, Lombardi R, Labriffe M, et al. Can synthetic data overcome the privacy and fidelity bottleneck in Pharmacometrics? medRxiv. 2026. doi:10.64898/2026.05.30.26354512.</a:t>
            </a:r>
          </a:p>
          <a:p xmlns:a="http://schemas.openxmlformats.org/drawingml/2006/main">
            <a:r>
              <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2. Jiang Y, García-Durán A, Bachali Losada I, Girard P, Terranova N. Generative models for synthetic data generation: application to pharmacokinetic/pharmacodynamic data. J Pharmacokinet Pharmacodyn. 2024;51:877–885. doi:10.1007/s10928-024-09935-6.</a:t>
            </a:r>
          </a:p>
        </p:txBody>
      </p:sp>
      <p:sp>
        <p:nvSpPr>
          <p:cNvPr id="65" name="Disclosure heading">
            <a:extLst xmlns:a="http://schemas.openxmlformats.org/drawingml/2006/main">
              <a:ext uri="{FF2B5EF4-FFF2-40B4-BE49-F238E27FC236}">
                <a16:creationId xmlns:a16="http://schemas.microsoft.com/office/drawing/2014/main" id="{0E27CD95-C138-41D5-B266-4F436369CDC8}"/>
              </a:ext>
            </a:extLst>
          </p:cNvPr>
          <p:cNvSpPr>
            <a:spLocks xmlns:a="http://schemas.openxmlformats.org/drawingml/2006/main" noGrp="1"/>
          </p:cNvSpPr>
          <p:nvPr/>
        </p:nvSpPr>
        <p:spPr>
          <a:xfrm xmlns:a="http://schemas.openxmlformats.org/drawingml/2006/main">
            <a:off x="16459200" y="37993320"/>
            <a:ext cx="12527280" cy="548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00" b="1">
                <a:solidFill>
                  <a:srgbClr val="202020"/>
                </a:solidFill>
                <a:latin typeface="Arial"/>
                <a:ea typeface="Arial"/>
                <a:cs typeface="Arial"/>
              </a:defRPr>
            </a:pPr>
            <a:r>
              <a:rPr sz="3200" b="1">
                <a:solidFill>
                  <a:srgbClr val="202020"/>
                </a:solidFill>
                <a:latin typeface="Arial"/>
                <a:ea typeface="Arial"/>
                <a:cs typeface="Arial"/>
              </a:rPr>
              <a:t>DISCLOSURES &amp; AVAILABILITY</a:t>
            </a:r>
          </a:p>
        </p:txBody>
      </p:sp>
      <p:sp>
        <p:nvSpPr>
          <p:cNvPr id="66" name="Disclosure">
            <a:extLst xmlns:a="http://schemas.openxmlformats.org/drawingml/2006/main">
              <a:ext uri="{FF2B5EF4-FFF2-40B4-BE49-F238E27FC236}">
                <a16:creationId xmlns:a16="http://schemas.microsoft.com/office/drawing/2014/main" id="{9BCD06FF-82E8-4170-8799-EB7B894CBDCB}"/>
              </a:ext>
            </a:extLst>
          </p:cNvPr>
          <p:cNvSpPr>
            <a:spLocks xmlns:a="http://schemas.openxmlformats.org/drawingml/2006/main" noGrp="1"/>
          </p:cNvSpPr>
          <p:nvPr/>
        </p:nvSpPr>
        <p:spPr>
          <a:xfrm xmlns:a="http://schemas.openxmlformats.org/drawingml/2006/main">
            <a:off x="16459200" y="38724840"/>
            <a:ext cx="11612880" cy="39776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During the preparation of this work, the authors used ChatGPT and Claude to develop code and assist with poster preparation. After using these tools, the authors reviewed and edited the content as needed and take full responsibility for the content of the publication.</a:t>
            </a:r>
          </a:p>
          <a:p xmlns:a="http://schemas.openxmlformats.org/drawingml/2006/main">
            <a:r>
              <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[Confirm author disclosures and funding]</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Package validation remains a next step.</a:t>
            </a:r>
          </a:p>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iamstein.github.io/synpmx/</a:t>
            </a:r>
          </a:p>
        </p:txBody>
      </p:sp>
      <p:sp>
        <p:nvSpPr>
          <p:cNvPr id="67" name="Conference QR">
            <a:extLst xmlns:a="http://schemas.openxmlformats.org/drawingml/2006/main">
              <a:ext uri="{FF2B5EF4-FFF2-40B4-BE49-F238E27FC236}">
                <a16:creationId xmlns:a16="http://schemas.microsoft.com/office/drawing/2014/main" id="{24603D48-6458-4381-ADC6-3AB2E92D8651}"/>
              </a:ext>
            </a:extLst>
          </p:cNvPr>
          <p:cNvSpPr>
            <a:spLocks xmlns:a="http://schemas.openxmlformats.org/drawingml/2006/main" noGrp="1"/>
          </p:cNvSpPr>
          <p:nvPr/>
        </p:nvSpPr>
        <p:spPr>
          <a:xfrm xmlns:a="http://schemas.openxmlformats.org/drawingml/2006/main">
            <a:off x="29260800" y="39822120"/>
            <a:ext cx="2468880" cy="2468880"/>
          </a:xfrm>
          <a:prstGeom xmlns:a="http://schemas.openxmlformats.org/drawingml/2006/main" prst="rect">
            <a:avLst/>
          </a:prstGeom>
          <a:solidFill xmlns:a="http://schemas.openxmlformats.org/drawingml/2006/main">
            <a:srgbClr val="F7F7F7"/>
          </a:solidFill>
          <a:ln xmlns:a="http://schemas.openxmlformats.org/drawingml/2006/main" w="9525">
            <a:solidFill>
              <a:srgbClr val="B0B0B0"/>
            </a:solidFill>
          </a:ln>
        </p:spPr>
      </p:sp>
      <p:sp>
        <p:nvSpPr>
          <p:cNvPr id="68" name="Conference QR label">
            <a:extLst xmlns:a="http://schemas.openxmlformats.org/drawingml/2006/main">
              <a:ext uri="{FF2B5EF4-FFF2-40B4-BE49-F238E27FC236}">
                <a16:creationId xmlns:a16="http://schemas.microsoft.com/office/drawing/2014/main" id="{9ED053BD-979F-435A-8958-478A8B39AA7F}"/>
              </a:ext>
            </a:extLst>
          </p:cNvPr>
          <p:cNvSpPr>
            <a:spLocks xmlns:a="http://schemas.openxmlformats.org/drawingml/2006/main" noGrp="1"/>
          </p:cNvSpPr>
          <p:nvPr/>
        </p:nvSpPr>
        <p:spPr>
          <a:xfrm xmlns:a="http://schemas.openxmlformats.org/drawingml/2006/main">
            <a:off x="29471112" y="40050720"/>
            <a:ext cx="2048256" cy="2011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[ACoP</a:t>
            </a:r>
          </a:p>
          <a:p xmlns:a="http://schemas.openxmlformats.org/drawingml/2006/main">
            <a:pPr>
              <a:defRPr sz="2400" b="0">
                <a:solidFill>
                  <a:srgbClr val="626262"/>
                </a:solidFill>
                <a:latin typeface="Arial"/>
                <a:ea typeface="Arial"/>
                <a:cs typeface="Arial"/>
              </a:defRPr>
            </a:pPr>
            <a:r>
              <a:rPr sz="2400" b="0">
                <a:solidFill>
                  <a:srgbClr val="626262"/>
                </a:solidFill>
                <a:latin typeface="Arial"/>
                <a:ea typeface="Arial"/>
                <a:cs typeface="Arial"/>
              </a:rPr>
              <a:t>QR code]</a:t>
            </a:r>
          </a:p>
        </p:txBody>
      </p:sp>
      <p:sp>
        <p:nvSpPr>
          <p:cNvPr id="69" name="QR label">
            <a:extLst xmlns:a="http://schemas.openxmlformats.org/drawingml/2006/main">
              <a:ext uri="{FF2B5EF4-FFF2-40B4-BE49-F238E27FC236}">
                <a16:creationId xmlns:a16="http://schemas.microsoft.com/office/drawing/2014/main" id="{AA8ADDB1-535C-4E7A-9ADD-32696335A514}"/>
              </a:ext>
            </a:extLst>
          </p:cNvPr>
          <p:cNvSpPr>
            <a:spLocks xmlns:a="http://schemas.openxmlformats.org/drawingml/2006/main" noGrp="1"/>
          </p:cNvSpPr>
          <p:nvPr/>
        </p:nvSpPr>
        <p:spPr>
          <a:xfrm xmlns:a="http://schemas.openxmlformats.org/drawingml/2006/main">
            <a:off x="28895040" y="42428160"/>
            <a:ext cx="301752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02020"/>
                </a:solidFill>
                <a:latin typeface="Arial"/>
                <a:ea typeface="Arial"/>
                <a:cs typeface="Arial"/>
              </a:defRPr>
            </a:pPr>
            <a:r>
              <a:rPr sz="2400" b="0">
                <a:solidFill>
                  <a:srgbClr val="202020"/>
                </a:solidFill>
                <a:latin typeface="Arial"/>
                <a:ea typeface="Arial"/>
                <a:cs typeface="Arial"/>
              </a:rPr>
              <a:t>Poster record</a:t>
            </a:r>
          </a:p>
        </p:txBody>
      </p:sp>
    </p:spTree>
    <p:extLst>
      <p:ext uri="{BB962C8B-B14F-4D97-AF65-F5344CB8AC3E}">
        <p14:creationId xmlns:p14="http://schemas.microsoft.com/office/powerpoint/2010/main" val="1680193071"/>
      </p:ext>
    </p:extLst>
  </p:cSld>
</p:sld>
</file>

<file path=ppt/theme/theme1.xml><?xml version="1.0" encoding="utf-8"?>
<a:theme xmlns:a="http://schemas.openxmlformats.org/drawingml/2006/main" name="Novartis | Reimagining Medicine">
  <a:themeElements>
    <a:clrScheme name="Novartis 2026">
      <a:dk1>
        <a:srgbClr val="161616"/>
      </a:dk1>
      <a:lt1>
        <a:srgbClr val="FCFCFC"/>
      </a:lt1>
      <a:dk2>
        <a:srgbClr val="484848"/>
      </a:dk2>
      <a:lt2>
        <a:srgbClr val="F2F2F2"/>
      </a:lt2>
      <a:accent1>
        <a:srgbClr val="FF4E00"/>
      </a:accent1>
      <a:accent2>
        <a:srgbClr val="161616"/>
      </a:accent2>
      <a:accent3>
        <a:srgbClr val="484848"/>
      </a:accent3>
      <a:accent4>
        <a:srgbClr val="7A7A7A"/>
      </a:accent4>
      <a:accent5>
        <a:srgbClr val="ACACAC"/>
      </a:accent5>
      <a:accent6>
        <a:srgbClr val="DADADA"/>
      </a:accent6>
      <a:hlink>
        <a:srgbClr val="161616"/>
      </a:hlink>
      <a:folHlink>
        <a:srgbClr val="7A7A7A"/>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ovartis 2026">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2026-09-18T10:26:04.7090000Z</dcterms:created>
  <dcterms:modified xsi:type="dcterms:W3CDTF">2026-09-18T10:26:04.7090000Z</dcterms:modified>
</coreProperties>
</file>