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07274beaf140de" /><Relationship Type="http://schemas.openxmlformats.org/officeDocument/2006/relationships/extended-properties" Target="/docProps/app.xml" Id="R3815aebc24134f89" /><Relationship Type="http://schemas.openxmlformats.org/officeDocument/2006/relationships/officeDocument" Target="/ppt/presentation.xml" Id="R604446ae46c745f2" /></Relationships>
</file>

<file path=ppt/presentation.xml><?xml version="1.0" encoding="utf-8"?>
<p:presentation xmlns:p="http://schemas.openxmlformats.org/presentationml/2006/main">
  <p:sldMasterIdLst>
    <p:sldMasterId xmlns:r="http://schemas.openxmlformats.org/officeDocument/2006/relationships" id="2147483648" r:id="Rb215331e00604569"/>
  </p:sldMasterIdLst>
  <p:notesMasterIdLst>
    <p:notesMasterId xmlns:r="http://schemas.openxmlformats.org/officeDocument/2006/relationships" r:id="R13de836b4d6b4ef6"/>
  </p:notesMasterIdLst>
  <p:sldIdLst>
    <p:sldId xmlns:r="http://schemas.openxmlformats.org/officeDocument/2006/relationships" id="256" r:id="R5e9e0e3d35a44c19"/>
  </p:sldIdLst>
  <p:sldSz cx="32918400" cy="438912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529a5fbaec542a8" /><Relationship Type="http://schemas.openxmlformats.org/officeDocument/2006/relationships/slideMaster" Target="/ppt/slideMasters/slideMaster1.xml" Id="Rb215331e00604569" /><Relationship Type="http://schemas.openxmlformats.org/officeDocument/2006/relationships/notesMaster" Target="/ppt/notesMasters/notesMaster1.xml" Id="R13de836b4d6b4ef6" /><Relationship Type="http://schemas.openxmlformats.org/officeDocument/2006/relationships/presProps" Target="/ppt/presProps.xml" Id="R8197a58bd10f419d" /><Relationship Type="http://schemas.openxmlformats.org/officeDocument/2006/relationships/viewProps" Target="/ppt/viewProps.xml" Id="R15f27f3b66db4d15" /><Relationship Type="http://schemas.openxmlformats.org/officeDocument/2006/relationships/tableStyles" Target="/ppt/tableStyles.xml" Id="Ra1dbfda064a34f71" /><Relationship Type="http://schemas.openxmlformats.org/officeDocument/2006/relationships/slide" Target="/ppt/slides/slide1.xml" Id="R5e9e0e3d35a44c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7b5eb3177042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29d216ea174791" /><Relationship Type="http://schemas.openxmlformats.org/officeDocument/2006/relationships/notesMaster" Target="/ppt/notesMasters/notesMaster1.xml" Id="R5d4473f090844f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communications/2026-acop-poster-outline-v2.md; the three supplied main figure PDFs in communications/2026-acop-poster-figures/; ACoP 2026 Poster Presenter Toolkit.pdf; New Branding 2026 Poster Template Portrait_A0.pptx.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3648acf9e4b8e" /></Relationships>
</file>

<file path=ppt/slideLayouts/slideLayout1.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da05c4eda4345e5" /><Relationship Type="http://schemas.openxmlformats.org/officeDocument/2006/relationships/slideLayout" Target="/ppt/slideLayouts/slideLayout1.xml" Id="R5bc105f89b384d1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c105f89b384d1e"/>
  </p:sldLayoutIdLst>
  <p:hf hdr="0" dt="0"/>
  <p:txStyles>
    <p:titleStyle>
      <a:lvl1pPr xmlns:a="http://schemas.openxmlformats.org/drawingml/2006/main" algn="l" defTabSz="377716">
        <a:lnSpc>
          <a:spcPct val="95000"/>
        </a:lnSpc>
        <a:spcBef>
          <a:spcPct val="0"/>
        </a:spcBef>
        <a:buNone/>
        <a:defRPr sz="1239" b="1" kern="1200">
          <a:solidFill>
            <a:srgbClr val="002068"/>
          </a:solidFill>
          <a:latin typeface="+mj-lt"/>
          <a:ea typeface="+mj-lt"/>
          <a:cs typeface="+mj-lt"/>
        </a:defRPr>
      </a:lvl1pPr>
    </p:titleStyle>
    <p:bodyStyle>
      <a:lvl1pPr xmlns:a="http://schemas.openxmlformats.org/drawingml/2006/main" marL="0" indent="0" algn="l" defTabSz="377716">
        <a:lnSpc>
          <a:spcPct val="95000"/>
        </a:lnSpc>
        <a:spcBef>
          <a:spcPts val="413"/>
        </a:spcBef>
        <a:buFontTx/>
        <a:buNone/>
        <a:defRPr sz="826" b="1" kern="1200">
          <a:solidFill>
            <a:srgbClr val="0460A9"/>
          </a:solidFill>
          <a:latin typeface="+mn-lt"/>
          <a:ea typeface="+mn-lt"/>
          <a:cs typeface="+mn-lt"/>
        </a:defRPr>
      </a:lvl1pPr>
      <a:lvl2pPr xmlns:a="http://schemas.openxmlformats.org/drawingml/2006/main" marL="0" indent="0" algn="l" defTabSz="377716">
        <a:lnSpc>
          <a:spcPct val="95000"/>
        </a:lnSpc>
        <a:spcBef>
          <a:spcPts val="289"/>
        </a:spcBef>
        <a:buFontTx/>
        <a:buNone/>
        <a:defRPr sz="826" kern="1200">
          <a:solidFill>
            <a:schemeClr val="tx1"/>
          </a:solidFill>
          <a:latin typeface="+mn-lt"/>
          <a:ea typeface="+mn-lt"/>
          <a:cs typeface="+mn-lt"/>
        </a:defRPr>
      </a:lvl2pPr>
      <a:lvl3pPr xmlns:a="http://schemas.openxmlformats.org/drawingml/2006/main" marL="89224" indent="-89224" algn="l" defTabSz="377716">
        <a:lnSpc>
          <a:spcPct val="95000"/>
        </a:lnSpc>
        <a:spcBef>
          <a:spcPts val="248"/>
        </a:spcBef>
        <a:buClr>
          <a:srgbClr val="0460A9"/>
        </a:buClr>
        <a:buFont typeface="Ping LCG Medium"/>
        <a:buChar char="•"/>
        <a:defRPr sz="826" kern="1200">
          <a:solidFill>
            <a:schemeClr val="tx1"/>
          </a:solidFill>
          <a:latin typeface="+mn-lt"/>
          <a:ea typeface="+mn-lt"/>
          <a:cs typeface="+mn-lt"/>
        </a:defRPr>
      </a:lvl3pPr>
      <a:lvl4pPr xmlns:a="http://schemas.openxmlformats.org/drawingml/2006/main" marL="202629" indent="-110823"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4pPr>
      <a:lvl5pPr xmlns:a="http://schemas.openxmlformats.org/drawingml/2006/main" marL="319354" indent="-114757"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5pPr>
      <a:lvl6pPr xmlns:a="http://schemas.openxmlformats.org/drawingml/2006/main" marL="1038719" indent="-94430" algn="l" defTabSz="377716">
        <a:lnSpc>
          <a:spcPct val="90000"/>
        </a:lnSpc>
        <a:spcBef>
          <a:spcPts val="207"/>
        </a:spcBef>
        <a:buFont typeface="Arial"/>
        <a:buChar char="•"/>
        <a:defRPr sz="743" kern="1200">
          <a:solidFill>
            <a:schemeClr val="tx1"/>
          </a:solidFill>
          <a:latin typeface="+mn-lt"/>
          <a:ea typeface="+mn-lt"/>
          <a:cs typeface="+mn-lt"/>
        </a:defRPr>
      </a:lvl6pPr>
      <a:lvl7pPr xmlns:a="http://schemas.openxmlformats.org/drawingml/2006/main" marL="1227576" indent="-94430" algn="l" defTabSz="377716">
        <a:lnSpc>
          <a:spcPct val="90000"/>
        </a:lnSpc>
        <a:spcBef>
          <a:spcPts val="207"/>
        </a:spcBef>
        <a:buFont typeface="Arial"/>
        <a:buChar char="•"/>
        <a:defRPr sz="743" kern="1200">
          <a:solidFill>
            <a:schemeClr val="tx1"/>
          </a:solidFill>
          <a:latin typeface="+mn-lt"/>
          <a:ea typeface="+mn-lt"/>
          <a:cs typeface="+mn-lt"/>
        </a:defRPr>
      </a:lvl7pPr>
      <a:lvl8pPr xmlns:a="http://schemas.openxmlformats.org/drawingml/2006/main" marL="1416434" indent="-94430" algn="l" defTabSz="377716">
        <a:lnSpc>
          <a:spcPct val="90000"/>
        </a:lnSpc>
        <a:spcBef>
          <a:spcPts val="207"/>
        </a:spcBef>
        <a:buFont typeface="Arial"/>
        <a:buChar char="•"/>
        <a:defRPr sz="743" kern="1200">
          <a:solidFill>
            <a:schemeClr val="tx1"/>
          </a:solidFill>
          <a:latin typeface="+mn-lt"/>
          <a:ea typeface="+mn-lt"/>
          <a:cs typeface="+mn-lt"/>
        </a:defRPr>
      </a:lvl8pPr>
      <a:lvl9pPr xmlns:a="http://schemas.openxmlformats.org/drawingml/2006/main" marL="1605292" indent="-94430" algn="l" defTabSz="377716">
        <a:lnSpc>
          <a:spcPct val="90000"/>
        </a:lnSpc>
        <a:spcBef>
          <a:spcPts val="207"/>
        </a:spcBef>
        <a:buFont typeface="Arial"/>
        <a:buChar char="•"/>
        <a:defRPr sz="743" kern="1200">
          <a:solidFill>
            <a:schemeClr val="tx1"/>
          </a:solidFill>
          <a:latin typeface="+mn-lt"/>
          <a:ea typeface="+mn-lt"/>
          <a:cs typeface="+mn-lt"/>
        </a:defRPr>
      </a:lvl9pPr>
    </p:bodyStyle>
    <p:otherStyle>
      <a:lvl1pPr xmlns:a="http://schemas.openxmlformats.org/drawingml/2006/main" marL="0" algn="l" defTabSz="377716">
        <a:buNone/>
        <a:defRPr sz="743" kern="1200">
          <a:solidFill>
            <a:schemeClr val="tx1"/>
          </a:solidFill>
          <a:latin typeface="+mn-lt"/>
          <a:ea typeface="+mn-lt"/>
          <a:cs typeface="+mn-lt"/>
        </a:defRPr>
      </a:lvl1pPr>
      <a:lvl2pPr xmlns:a="http://schemas.openxmlformats.org/drawingml/2006/main" marL="188858" algn="l" defTabSz="377716">
        <a:buNone/>
        <a:defRPr sz="743" kern="1200">
          <a:solidFill>
            <a:schemeClr val="tx1"/>
          </a:solidFill>
          <a:latin typeface="+mn-lt"/>
          <a:ea typeface="+mn-lt"/>
          <a:cs typeface="+mn-lt"/>
        </a:defRPr>
      </a:lvl2pPr>
      <a:lvl3pPr xmlns:a="http://schemas.openxmlformats.org/drawingml/2006/main" marL="377716" algn="l" defTabSz="377716">
        <a:buNone/>
        <a:defRPr sz="743" kern="1200">
          <a:solidFill>
            <a:schemeClr val="tx1"/>
          </a:solidFill>
          <a:latin typeface="+mn-lt"/>
          <a:ea typeface="+mn-lt"/>
          <a:cs typeface="+mn-lt"/>
        </a:defRPr>
      </a:lvl3pPr>
      <a:lvl4pPr xmlns:a="http://schemas.openxmlformats.org/drawingml/2006/main" marL="566573" algn="l" defTabSz="377716">
        <a:buNone/>
        <a:defRPr sz="743" kern="1200">
          <a:solidFill>
            <a:schemeClr val="tx1"/>
          </a:solidFill>
          <a:latin typeface="+mn-lt"/>
          <a:ea typeface="+mn-lt"/>
          <a:cs typeface="+mn-lt"/>
        </a:defRPr>
      </a:lvl4pPr>
      <a:lvl5pPr xmlns:a="http://schemas.openxmlformats.org/drawingml/2006/main" marL="755432" algn="l" defTabSz="377716">
        <a:buNone/>
        <a:defRPr sz="743" kern="1200">
          <a:solidFill>
            <a:schemeClr val="tx1"/>
          </a:solidFill>
          <a:latin typeface="+mn-lt"/>
          <a:ea typeface="+mn-lt"/>
          <a:cs typeface="+mn-lt"/>
        </a:defRPr>
      </a:lvl5pPr>
      <a:lvl6pPr xmlns:a="http://schemas.openxmlformats.org/drawingml/2006/main" marL="944289" algn="l" defTabSz="377716">
        <a:buNone/>
        <a:defRPr sz="743" kern="1200">
          <a:solidFill>
            <a:schemeClr val="tx1"/>
          </a:solidFill>
          <a:latin typeface="+mn-lt"/>
          <a:ea typeface="+mn-lt"/>
          <a:cs typeface="+mn-lt"/>
        </a:defRPr>
      </a:lvl6pPr>
      <a:lvl7pPr xmlns:a="http://schemas.openxmlformats.org/drawingml/2006/main" marL="1133147" algn="l" defTabSz="377716">
        <a:buNone/>
        <a:defRPr sz="743" kern="1200">
          <a:solidFill>
            <a:schemeClr val="tx1"/>
          </a:solidFill>
          <a:latin typeface="+mn-lt"/>
          <a:ea typeface="+mn-lt"/>
          <a:cs typeface="+mn-lt"/>
        </a:defRPr>
      </a:lvl7pPr>
      <a:lvl8pPr xmlns:a="http://schemas.openxmlformats.org/drawingml/2006/main" marL="1322006" algn="l" defTabSz="377716">
        <a:buNone/>
        <a:defRPr sz="743" kern="1200">
          <a:solidFill>
            <a:schemeClr val="tx1"/>
          </a:solidFill>
          <a:latin typeface="+mn-lt"/>
          <a:ea typeface="+mn-lt"/>
          <a:cs typeface="+mn-lt"/>
        </a:defRPr>
      </a:lvl8pPr>
      <a:lvl9pPr xmlns:a="http://schemas.openxmlformats.org/drawingml/2006/main" marL="1510864" algn="l" defTabSz="377716">
        <a:buNone/>
        <a:defRPr sz="743" kern="1200">
          <a:solidFill>
            <a:schemeClr val="tx1"/>
          </a:solidFill>
          <a:latin typeface="+mn-lt"/>
          <a:ea typeface="+mn-lt"/>
          <a:cs typeface="+mn-lt"/>
        </a:defRPr>
      </a:lvl9pPr>
    </p:otherStyle>
  </p:txStyles>
  <p:extLst>
    <p:ext uri="{27BBF7A9-308A-43DC-89C8-2F10F3537804}">
      <p15:sldGuideLst xmlns:p15="http://schemas.microsoft.com/office/powerpoint/2012/main">
        <p15:guide id="2" pos="9830" userDrawn="1">
          <p15:clr>
            <a:srgbClr xmlns:a="http://schemas.openxmlformats.org/drawingml/2006/main" val="F26B43"/>
          </p15:clr>
        </p15:guide>
        <p15:guide id="3" orient="horz" pos="577" userDrawn="1">
          <p15:clr>
            <a:srgbClr xmlns:a="http://schemas.openxmlformats.org/drawingml/2006/main" val="F26B43"/>
          </p15:clr>
        </p15:guide>
        <p15:guide id="12" pos="18494" userDrawn="1">
          <p15:clr>
            <a:srgbClr xmlns:a="http://schemas.openxmlformats.org/drawingml/2006/main" val="F26B43"/>
          </p15:clr>
        </p15:guide>
        <p15:guide id="13" pos="577" userDrawn="1">
          <p15:clr>
            <a:srgbClr xmlns:a="http://schemas.openxmlformats.org/drawingml/2006/main" val="F26B43"/>
          </p15:clr>
        </p15:guide>
        <p15:guide id="24" orient="horz" pos="26386" userDrawn="1">
          <p15:clr>
            <a:srgbClr xmlns:a="http://schemas.openxmlformats.org/drawingml/2006/main" val="F26B43"/>
          </p15:clr>
        </p15:guide>
        <p15:guide id="26" pos="9241" userDrawn="1">
          <p15:clr>
            <a:srgbClr xmlns:a="http://schemas.openxmlformats.org/drawingml/2006/main" val="F26B43"/>
          </p15:clr>
        </p15:guide>
      </p15:sldGuideLst>
    </p:ext>
  </p:extLst>
</p:sldMaster>
</file>

<file path=ppt/slideMasters/theme/theme2.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de4031903748f1" /><Relationship Type="http://schemas.openxmlformats.org/officeDocument/2006/relationships/image" Target="/ppt/media/image.png" Id="R04c1ac06b0d54711" /><Relationship Type="http://schemas.openxmlformats.org/officeDocument/2006/relationships/image" Target="/ppt/media/image.svg" Id="Rd5bbd6a54d884f79" /><Relationship Type="http://schemas.openxmlformats.org/officeDocument/2006/relationships/image" Target="/ppt/media/image2.png" Id="R86b6a3ad3b9b4371" /><Relationship Type="http://schemas.openxmlformats.org/officeDocument/2006/relationships/image" Target="/ppt/media/image2.svg" Id="R46b44909d44c4a20" /><Relationship Type="http://schemas.openxmlformats.org/officeDocument/2006/relationships/image" Target="/ppt/media/image3.png" Id="R15a35de8a3a54245" /><Relationship Type="http://schemas.openxmlformats.org/officeDocument/2006/relationships/image" Target="/ppt/media/image3.svg" Id="Ra40c1b9ba21948d0" /><Relationship Type="http://schemas.openxmlformats.org/officeDocument/2006/relationships/image" Target="/ppt/media/image4.png" Id="R76a57f69ee814fd5" /><Relationship Type="http://schemas.openxmlformats.org/officeDocument/2006/relationships/image" Target="/ppt/media/image4.svg" Id="R1c93ac5f2c714181" /><Relationship Type="http://schemas.openxmlformats.org/officeDocument/2006/relationships/notesSlide" Target="/ppt/notesSlides/notesSlide1.xml" Id="R0fe2bc1c8064442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1" name="bg object 16">
            <a:extLst xmlns:a="http://schemas.openxmlformats.org/drawingml/2006/main">
              <a:ext uri="{FF2B5EF4-FFF2-40B4-BE49-F238E27FC236}">
                <a16:creationId xmlns:a16="http://schemas.microsoft.com/office/drawing/2014/main" id="{6B91A59D-D913-9972-3166-37BCDEF105B1}"/>
              </a:ext>
            </a:extLst>
          </p:cNvPr>
          <p:cNvSpPr>
            <a:spLocks xmlns:a="http://schemas.openxmlformats.org/drawingml/2006/main" noGrp="1"/>
          </p:cNvSpPr>
          <p:nvPr/>
        </p:nvSpPr>
        <p:spPr>
          <a:xfrm xmlns:a="http://schemas.openxmlformats.org/drawingml/2006/main">
            <a:off x="0" y="0"/>
            <a:ext cx="32918400" cy="6400800"/>
          </a:xfrm>
          <a:custGeom xmlns:a="http://schemas.openxmlformats.org/drawingml/2006/main">
            <a:rect l="l" t="t" r="r" b="b"/>
            <a:pathLst>
              <a:path w="11488420" h="3952240">
                <a:moveTo>
                  <a:pt x="11488070" y="0"/>
                </a:moveTo>
                <a:lnTo>
                  <a:pt x="0" y="0"/>
                </a:lnTo>
                <a:lnTo>
                  <a:pt x="0" y="3951680"/>
                </a:lnTo>
                <a:lnTo>
                  <a:pt x="11488070" y="3951680"/>
                </a:lnTo>
                <a:lnTo>
                  <a:pt x="11488070" y="0"/>
                </a:lnTo>
                <a:close/>
              </a:path>
            </a:pathLst>
          </a:custGeom>
          <a:blipFill xmlns:a="http://schemas.openxmlformats.org/drawingml/2006/main">
            <a:blip xmlns:r="http://schemas.openxmlformats.org/officeDocument/2006/relationships" r:embed="R04c1ac06b0d54711">
              <a:extLst>
                <a:ext uri="{96DAC541-7B7A-43D3-8B79-37D633B846F1}">
                  <asvg:svgBlip xmlns:asvg="http://schemas.microsoft.com/office/drawing/2016/SVG/main" r:embed="Rd5bbd6a54d884f79"/>
                </a:ext>
              </a:extLst>
            </a:blip>
            <a:stretch>
              <a:fillRect l="-811" t="-811" r="-811" b="-811"/>
            </a:stretch>
          </a:blip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08000" tIns="108000" rIns="108000" bIns="108000" anchor="t"/>
          <a:lstStyle xmlns:a="http://schemas.openxmlformats.org/drawingml/2006/main"/>
          <a:p xmlns:a="http://schemas.openxmlformats.org/drawingml/2006/main">
            <a:pPr marL="180000" lvl="0" indent="-180000" algn="l">
              <a:spcBef>
                <a:spcPts val="800"/>
              </a:spcBef>
              <a:buFont typeface="Arial"/>
              <a:buChar char="•"/>
            </a:pPr>
            <a:endParaRPr>
              <a:solidFill>
                <a:schemeClr val="lt1"/>
              </a:solidFill>
              <a:latin typeface="+mn-lt"/>
              <a:ea typeface="+mn-lt"/>
              <a:cs typeface="+mn-lt"/>
            </a:endParaRPr>
          </a:p>
        </p:txBody>
      </p:sp>
      <p:sp>
        <p:nvSpPr>
          <p:cNvPr id="12" name="Title">
            <a:extLst xmlns:a="http://schemas.openxmlformats.org/drawingml/2006/main">
              <a:ext uri="{FF2B5EF4-FFF2-40B4-BE49-F238E27FC236}">
                <a16:creationId xmlns:a16="http://schemas.microsoft.com/office/drawing/2014/main" id="{6AECC2A2-5D1F-4459-8BFD-B5861DB707C2}"/>
              </a:ext>
            </a:extLst>
          </p:cNvPr>
          <p:cNvSpPr>
            <a:spLocks xmlns:a="http://schemas.openxmlformats.org/drawingml/2006/main" noGrp="1"/>
          </p:cNvSpPr>
          <p:nvPr/>
        </p:nvSpPr>
        <p:spPr>
          <a:xfrm xmlns:a="http://schemas.openxmlformats.org/drawingml/2006/main">
            <a:off x="914400" y="594360"/>
            <a:ext cx="31089600" cy="2468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Enabling AI-Assisted Pharmacometric</a:t>
            </a:r>
          </a:p>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Workflows Using Synthetic Data</a:t>
            </a:r>
          </a:p>
        </p:txBody>
      </p:sp>
      <p:sp>
        <p:nvSpPr>
          <p:cNvPr id="13" name="Authors">
            <a:extLst xmlns:a="http://schemas.openxmlformats.org/drawingml/2006/main">
              <a:ext uri="{FF2B5EF4-FFF2-40B4-BE49-F238E27FC236}">
                <a16:creationId xmlns:a16="http://schemas.microsoft.com/office/drawing/2014/main" id="{6CD2DF4D-73FC-40C2-88E4-A70979B17403}"/>
              </a:ext>
            </a:extLst>
          </p:cNvPr>
          <p:cNvSpPr>
            <a:spLocks xmlns:a="http://schemas.openxmlformats.org/drawingml/2006/main" noGrp="1"/>
          </p:cNvSpPr>
          <p:nvPr/>
        </p:nvSpPr>
        <p:spPr>
          <a:xfrm xmlns:a="http://schemas.openxmlformats.org/drawingml/2006/main">
            <a:off x="914400" y="3154680"/>
            <a:ext cx="2286000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0">
                <a:solidFill>
                  <a:srgbClr val="202020"/>
                </a:solidFill>
                <a:latin typeface="Arial"/>
                <a:ea typeface="Arial"/>
                <a:cs typeface="Arial"/>
              </a:defRPr>
            </a:pPr>
            <a:r>
              <a:rPr sz="3200" b="0">
                <a:solidFill>
                  <a:srgbClr val="202020"/>
                </a:solidFill>
                <a:latin typeface="Arial"/>
                <a:ea typeface="Arial"/>
                <a:cs typeface="Arial"/>
              </a:rPr>
              <a:t>Andrew Stein, Alex Pogodaev</a:t>
            </a:r>
          </a:p>
        </p:txBody>
      </p:sp>
      <p:sp>
        <p:nvSpPr>
          <p:cNvPr id="14" name="Affiliations">
            <a:extLst xmlns:a="http://schemas.openxmlformats.org/drawingml/2006/main">
              <a:ext uri="{FF2B5EF4-FFF2-40B4-BE49-F238E27FC236}">
                <a16:creationId xmlns:a16="http://schemas.microsoft.com/office/drawing/2014/main" id="{6DAA2186-E6BD-47AC-B780-DEC00F2966A2}"/>
              </a:ext>
            </a:extLst>
          </p:cNvPr>
          <p:cNvSpPr>
            <a:spLocks xmlns:a="http://schemas.openxmlformats.org/drawingml/2006/main" noGrp="1"/>
          </p:cNvSpPr>
          <p:nvPr/>
        </p:nvSpPr>
        <p:spPr>
          <a:xfrm xmlns:a="http://schemas.openxmlformats.org/drawingml/2006/main">
            <a:off x="914400" y="3886200"/>
            <a:ext cx="228600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[Affiliations and presenting-author email]</a:t>
            </a:r>
          </a:p>
        </p:txBody>
      </p:sp>
      <p:sp>
        <p:nvSpPr>
          <p:cNvPr id="15" name="Poster number">
            <a:extLst xmlns:a="http://schemas.openxmlformats.org/drawingml/2006/main">
              <a:ext uri="{FF2B5EF4-FFF2-40B4-BE49-F238E27FC236}">
                <a16:creationId xmlns:a16="http://schemas.microsoft.com/office/drawing/2014/main" id="{8BFF1E0D-C0F7-4B71-BBDA-26BA5F44B56C}"/>
              </a:ext>
            </a:extLst>
          </p:cNvPr>
          <p:cNvSpPr>
            <a:spLocks xmlns:a="http://schemas.openxmlformats.org/drawingml/2006/main" noGrp="1"/>
          </p:cNvSpPr>
          <p:nvPr/>
        </p:nvSpPr>
        <p:spPr>
          <a:xfrm xmlns:a="http://schemas.openxmlformats.org/drawingml/2006/main">
            <a:off x="24688800" y="3246120"/>
            <a:ext cx="73152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Poster [number]</a:t>
            </a:r>
          </a:p>
        </p:txBody>
      </p:sp>
      <p:sp>
        <p:nvSpPr>
          <p:cNvPr id="16" name="Conference">
            <a:extLst xmlns:a="http://schemas.openxmlformats.org/drawingml/2006/main">
              <a:ext uri="{FF2B5EF4-FFF2-40B4-BE49-F238E27FC236}">
                <a16:creationId xmlns:a16="http://schemas.microsoft.com/office/drawing/2014/main" id="{D7C636E8-0B63-42E7-9E3C-62F3BBCE3D67}"/>
              </a:ext>
            </a:extLst>
          </p:cNvPr>
          <p:cNvSpPr>
            <a:spLocks xmlns:a="http://schemas.openxmlformats.org/drawingml/2006/main" noGrp="1"/>
          </p:cNvSpPr>
          <p:nvPr/>
        </p:nvSpPr>
        <p:spPr>
          <a:xfrm xmlns:a="http://schemas.openxmlformats.org/drawingml/2006/main">
            <a:off x="21945600" y="3931920"/>
            <a:ext cx="10058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ACoP 2026</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October 11–14, National Harbor, Maryland</a:t>
            </a:r>
          </a:p>
        </p:txBody>
      </p:sp>
      <p:sp>
        <p:nvSpPr>
          <p:cNvPr id="17" name="Key conclusion">
            <a:extLst xmlns:a="http://schemas.openxmlformats.org/drawingml/2006/main">
              <a:ext uri="{FF2B5EF4-FFF2-40B4-BE49-F238E27FC236}">
                <a16:creationId xmlns:a16="http://schemas.microsoft.com/office/drawing/2014/main" id="{0DAFDB9F-6CE2-4E35-A39C-0889EE91F6A2}"/>
              </a:ext>
            </a:extLst>
          </p:cNvPr>
          <p:cNvSpPr>
            <a:spLocks xmlns:a="http://schemas.openxmlformats.org/drawingml/2006/main" noGrp="1"/>
          </p:cNvSpPr>
          <p:nvPr/>
        </p:nvSpPr>
        <p:spPr>
          <a:xfrm xmlns:a="http://schemas.openxmlformats.org/drawingml/2006/main">
            <a:off x="914400" y="5074920"/>
            <a:ext cx="31089600" cy="96012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Key conclusion text">
            <a:extLst xmlns:a="http://schemas.openxmlformats.org/drawingml/2006/main">
              <a:ext uri="{FF2B5EF4-FFF2-40B4-BE49-F238E27FC236}">
                <a16:creationId xmlns:a16="http://schemas.microsoft.com/office/drawing/2014/main" id="{26BD5D95-1F4D-445E-BF77-E2913D1ACEB0}"/>
              </a:ext>
            </a:extLst>
          </p:cNvPr>
          <p:cNvSpPr>
            <a:spLocks xmlns:a="http://schemas.openxmlformats.org/drawingml/2006/main" noGrp="1"/>
          </p:cNvSpPr>
          <p:nvPr/>
        </p:nvSpPr>
        <p:spPr>
          <a:xfrm xmlns:a="http://schemas.openxmlformats.org/drawingml/2006/main">
            <a:off x="1143000" y="5202936"/>
            <a:ext cx="306324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2020"/>
                </a:solidFill>
                <a:latin typeface="Arial"/>
                <a:ea typeface="Arial"/>
                <a:cs typeface="Arial"/>
              </a:defRPr>
            </a:pPr>
            <a:r>
              <a:rPr sz="3000" b="1">
                <a:solidFill>
                  <a:srgbClr val="202020"/>
                </a:solidFill>
                <a:latin typeface="Arial"/>
                <a:ea typeface="Arial"/>
                <a:cs typeface="Arial"/>
              </a:rPr>
              <a:t>Develop analysis code with approved synthetic data. Validate and interpret results on real data in the secure environment.</a:t>
            </a:r>
          </a:p>
        </p:txBody>
      </p:sp>
      <p:sp>
        <p:nvSpPr>
          <p:cNvPr id="19" name="Objective">
            <a:extLst xmlns:a="http://schemas.openxmlformats.org/drawingml/2006/main">
              <a:ext uri="{FF2B5EF4-FFF2-40B4-BE49-F238E27FC236}">
                <a16:creationId xmlns:a16="http://schemas.microsoft.com/office/drawing/2014/main" id="{4EE54DCC-5C18-4F98-B835-647186326DC6}"/>
              </a:ext>
            </a:extLst>
          </p:cNvPr>
          <p:cNvSpPr>
            <a:spLocks xmlns:a="http://schemas.openxmlformats.org/drawingml/2006/main" noGrp="1"/>
          </p:cNvSpPr>
          <p:nvPr/>
        </p:nvSpPr>
        <p:spPr>
          <a:xfrm xmlns:a="http://schemas.openxmlformats.org/drawingml/2006/main">
            <a:off x="914400" y="6995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OBJECTIVE</a:t>
            </a:r>
          </a:p>
        </p:txBody>
      </p:sp>
      <p:sp>
        <p:nvSpPr>
          <p:cNvPr id="20" name="Objective copy">
            <a:extLst xmlns:a="http://schemas.openxmlformats.org/drawingml/2006/main">
              <a:ext uri="{FF2B5EF4-FFF2-40B4-BE49-F238E27FC236}">
                <a16:creationId xmlns:a16="http://schemas.microsoft.com/office/drawing/2014/main" id="{37D5523A-3AFE-4B44-A7A1-4D4F44546B40}"/>
              </a:ext>
            </a:extLst>
          </p:cNvPr>
          <p:cNvSpPr>
            <a:spLocks xmlns:a="http://schemas.openxmlformats.org/drawingml/2006/main" noGrp="1"/>
          </p:cNvSpPr>
          <p:nvPr/>
        </p:nvSpPr>
        <p:spPr>
          <a:xfrm xmlns:a="http://schemas.openxmlformats.org/drawingml/2006/main">
            <a:off x="914400" y="7772400"/>
            <a:ext cx="1289304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synpmx generates synthetic pharmacometric datasets for artificial intelligence (AI)-assisted code development when clinical data must remain in a secure computing environment. Synthetic data provides the columns, dosing records and observations needed to develop exploration, model-fitting and diagnostic code. PK denotes pharmacokinetics and PD pharmacodynamics.</a:t>
            </a:r>
          </a:p>
        </p:txBody>
      </p:sp>
      <p:sp>
        <p:nvSpPr>
          <p:cNvPr id="21" name="Workflow">
            <a:extLst xmlns:a="http://schemas.openxmlformats.org/drawingml/2006/main">
              <a:ext uri="{FF2B5EF4-FFF2-40B4-BE49-F238E27FC236}">
                <a16:creationId xmlns:a16="http://schemas.microsoft.com/office/drawing/2014/main" id="{FB62B4DD-1713-4EDB-AB29-B447A19708C0}"/>
              </a:ext>
            </a:extLst>
          </p:cNvPr>
          <p:cNvSpPr>
            <a:spLocks xmlns:a="http://schemas.openxmlformats.org/drawingml/2006/main" noGrp="1"/>
          </p:cNvSpPr>
          <p:nvPr/>
        </p:nvSpPr>
        <p:spPr>
          <a:xfrm xmlns:a="http://schemas.openxmlformats.org/drawingml/2006/main">
            <a:off x="914400" y="10424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WORKFLOW</a:t>
            </a:r>
          </a:p>
        </p:txBody>
      </p:sp>
      <p:sp>
        <p:nvSpPr>
          <p:cNvPr id="22" name="Secure environment">
            <a:extLst xmlns:a="http://schemas.openxmlformats.org/drawingml/2006/main">
              <a:ext uri="{FF2B5EF4-FFF2-40B4-BE49-F238E27FC236}">
                <a16:creationId xmlns:a16="http://schemas.microsoft.com/office/drawing/2014/main" id="{DCE1E44E-495A-4C2F-A661-1F79DDD62829}"/>
              </a:ext>
            </a:extLst>
          </p:cNvPr>
          <p:cNvSpPr>
            <a:spLocks xmlns:a="http://schemas.openxmlformats.org/drawingml/2006/main" noGrp="1"/>
          </p:cNvSpPr>
          <p:nvPr/>
        </p:nvSpPr>
        <p:spPr>
          <a:xfrm xmlns:a="http://schemas.openxmlformats.org/drawingml/2006/main">
            <a:off x="914400" y="11338560"/>
            <a:ext cx="5715000" cy="6537960"/>
          </a:xfrm>
          <a:prstGeom xmlns:a="http://schemas.openxmlformats.org/drawingml/2006/main" prst="rect">
            <a:avLst/>
          </a:prstGeom>
          <a:solidFill xmlns:a="http://schemas.openxmlformats.org/drawingml/2006/main">
            <a:srgbClr val="F0F4F7"/>
          </a:solidFill>
          <a:ln xmlns:a="http://schemas.openxmlformats.org/drawingml/2006/main" w="0">
            <a:noFill/>
          </a:ln>
        </p:spPr>
      </p:sp>
      <p:sp>
        <p:nvSpPr>
          <p:cNvPr id="23" name="Development environment">
            <a:extLst xmlns:a="http://schemas.openxmlformats.org/drawingml/2006/main">
              <a:ext uri="{FF2B5EF4-FFF2-40B4-BE49-F238E27FC236}">
                <a16:creationId xmlns:a16="http://schemas.microsoft.com/office/drawing/2014/main" id="{46D6D9D0-6B47-44B9-BF4D-1789393589D5}"/>
              </a:ext>
            </a:extLst>
          </p:cNvPr>
          <p:cNvSpPr>
            <a:spLocks xmlns:a="http://schemas.openxmlformats.org/drawingml/2006/main" noGrp="1"/>
          </p:cNvSpPr>
          <p:nvPr/>
        </p:nvSpPr>
        <p:spPr>
          <a:xfrm xmlns:a="http://schemas.openxmlformats.org/drawingml/2006/main">
            <a:off x="8046720" y="11338560"/>
            <a:ext cx="5760720" cy="6537960"/>
          </a:xfrm>
          <a:prstGeom xmlns:a="http://schemas.openxmlformats.org/drawingml/2006/main" prst="rect">
            <a:avLst/>
          </a:prstGeom>
          <a:solidFill xmlns:a="http://schemas.openxmlformats.org/drawingml/2006/main">
            <a:srgbClr val="FFF2E9"/>
          </a:solidFill>
          <a:ln xmlns:a="http://schemas.openxmlformats.org/drawingml/2006/main" w="0">
            <a:noFill/>
          </a:ln>
        </p:spPr>
      </p:sp>
      <p:sp>
        <p:nvSpPr>
          <p:cNvPr id="24" name="Secure label">
            <a:extLst xmlns:a="http://schemas.openxmlformats.org/drawingml/2006/main">
              <a:ext uri="{FF2B5EF4-FFF2-40B4-BE49-F238E27FC236}">
                <a16:creationId xmlns:a16="http://schemas.microsoft.com/office/drawing/2014/main" id="{586691FE-9E8B-4FA1-B904-87AB55F17ADF}"/>
              </a:ext>
            </a:extLst>
          </p:cNvPr>
          <p:cNvSpPr>
            <a:spLocks xmlns:a="http://schemas.openxmlformats.org/drawingml/2006/main" noGrp="1"/>
          </p:cNvSpPr>
          <p:nvPr/>
        </p:nvSpPr>
        <p:spPr>
          <a:xfrm xmlns:a="http://schemas.openxmlformats.org/drawingml/2006/main">
            <a:off x="1234440" y="11567160"/>
            <a:ext cx="512064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286491"/>
                </a:solidFill>
                <a:latin typeface="Arial"/>
                <a:ea typeface="Arial"/>
                <a:cs typeface="Arial"/>
              </a:defRPr>
            </a:pPr>
            <a:r>
              <a:rPr sz="2600" b="1">
                <a:solidFill>
                  <a:srgbClr val="286491"/>
                </a:solidFill>
                <a:latin typeface="Arial"/>
                <a:ea typeface="Arial"/>
                <a:cs typeface="Arial"/>
              </a:rPr>
              <a:t>Secure clinical-data</a:t>
            </a:r>
          </a:p>
          <a:p xmlns:a="http://schemas.openxmlformats.org/drawingml/2006/main">
            <a:pPr>
              <a:defRPr sz="2600" b="1">
                <a:solidFill>
                  <a:srgbClr val="286491"/>
                </a:solidFill>
                <a:latin typeface="Arial"/>
                <a:ea typeface="Arial"/>
                <a:cs typeface="Arial"/>
              </a:defRPr>
            </a:pPr>
            <a:r>
              <a:rPr sz="2600" b="1">
                <a:solidFill>
                  <a:srgbClr val="286491"/>
                </a:solidFill>
                <a:latin typeface="Arial"/>
                <a:ea typeface="Arial"/>
                <a:cs typeface="Arial"/>
              </a:rPr>
              <a:t>environment</a:t>
            </a:r>
          </a:p>
        </p:txBody>
      </p:sp>
      <p:sp>
        <p:nvSpPr>
          <p:cNvPr id="25" name="Development label">
            <a:extLst xmlns:a="http://schemas.openxmlformats.org/drawingml/2006/main">
              <a:ext uri="{FF2B5EF4-FFF2-40B4-BE49-F238E27FC236}">
                <a16:creationId xmlns:a16="http://schemas.microsoft.com/office/drawing/2014/main" id="{06C9290C-A408-4F7C-9176-23A244696C9D}"/>
              </a:ext>
            </a:extLst>
          </p:cNvPr>
          <p:cNvSpPr>
            <a:spLocks xmlns:a="http://schemas.openxmlformats.org/drawingml/2006/main" noGrp="1"/>
          </p:cNvSpPr>
          <p:nvPr/>
        </p:nvSpPr>
        <p:spPr>
          <a:xfrm xmlns:a="http://schemas.openxmlformats.org/drawingml/2006/main">
            <a:off x="8321040" y="11567160"/>
            <a:ext cx="521208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CF4500"/>
                </a:solidFill>
                <a:latin typeface="Arial"/>
                <a:ea typeface="Arial"/>
                <a:cs typeface="Arial"/>
              </a:defRPr>
            </a:pPr>
            <a:r>
              <a:rPr sz="2600" b="1">
                <a:solidFill>
                  <a:srgbClr val="CF4500"/>
                </a:solidFill>
                <a:latin typeface="Arial"/>
                <a:ea typeface="Arial"/>
                <a:cs typeface="Arial"/>
              </a:rPr>
              <a:t>AI-enabled development</a:t>
            </a:r>
          </a:p>
          <a:p xmlns:a="http://schemas.openxmlformats.org/drawingml/2006/main">
            <a:pPr>
              <a:defRPr sz="2600" b="1">
                <a:solidFill>
                  <a:srgbClr val="CF4500"/>
                </a:solidFill>
                <a:latin typeface="Arial"/>
                <a:ea typeface="Arial"/>
                <a:cs typeface="Arial"/>
              </a:defRPr>
            </a:pPr>
            <a:r>
              <a:rPr sz="2600" b="1">
                <a:solidFill>
                  <a:srgbClr val="CF4500"/>
                </a:solidFill>
                <a:latin typeface="Arial"/>
                <a:ea typeface="Arial"/>
                <a:cs typeface="Arial"/>
              </a:rPr>
              <a:t>environment</a:t>
            </a:r>
          </a:p>
        </p:txBody>
      </p:sp>
      <p:sp>
        <p:nvSpPr>
          <p:cNvPr id="26" name="Real clinical data">
            <a:extLst xmlns:a="http://schemas.openxmlformats.org/drawingml/2006/main">
              <a:ext uri="{FF2B5EF4-FFF2-40B4-BE49-F238E27FC236}">
                <a16:creationId xmlns:a16="http://schemas.microsoft.com/office/drawing/2014/main" id="{6B13E768-9287-4183-971F-589794BD753A}"/>
              </a:ext>
            </a:extLst>
          </p:cNvPr>
          <p:cNvSpPr>
            <a:spLocks xmlns:a="http://schemas.openxmlformats.org/drawingml/2006/main" noGrp="1"/>
          </p:cNvSpPr>
          <p:nvPr/>
        </p:nvSpPr>
        <p:spPr>
          <a:xfrm xmlns:a="http://schemas.openxmlformats.org/drawingml/2006/main">
            <a:off x="1417320" y="12664440"/>
            <a:ext cx="4709160" cy="731520"/>
          </a:xfrm>
          <a:prstGeom xmlns:a="http://schemas.openxmlformats.org/drawingml/2006/main" prst="rect">
            <a:avLst/>
          </a:prstGeom>
          <a:solidFill xmlns:a="http://schemas.openxmlformats.org/drawingml/2006/main">
            <a:srgbClr val="DCEAF5"/>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Real clinical data</a:t>
            </a:r>
          </a:p>
        </p:txBody>
      </p:sp>
      <p:sp>
        <p:nvSpPr>
          <p:cNvPr id="27" name="Generate">
            <a:extLst xmlns:a="http://schemas.openxmlformats.org/drawingml/2006/main">
              <a:ext uri="{FF2B5EF4-FFF2-40B4-BE49-F238E27FC236}">
                <a16:creationId xmlns:a16="http://schemas.microsoft.com/office/drawing/2014/main" id="{9F212E30-97D1-476D-A20B-4576C4DB616D}"/>
              </a:ext>
            </a:extLst>
          </p:cNvPr>
          <p:cNvSpPr>
            <a:spLocks xmlns:a="http://schemas.openxmlformats.org/drawingml/2006/main" noGrp="1"/>
          </p:cNvSpPr>
          <p:nvPr/>
        </p:nvSpPr>
        <p:spPr>
          <a:xfrm xmlns:a="http://schemas.openxmlformats.org/drawingml/2006/main">
            <a:off x="1417320" y="13743432"/>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Generate with synpmx</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Declare roles with pmx_roles()</a:t>
            </a:r>
          </a:p>
        </p:txBody>
      </p:sp>
      <p:sp>
        <p:nvSpPr>
          <p:cNvPr id="28" name="Review">
            <a:extLst xmlns:a="http://schemas.openxmlformats.org/drawingml/2006/main">
              <a:ext uri="{FF2B5EF4-FFF2-40B4-BE49-F238E27FC236}">
                <a16:creationId xmlns:a16="http://schemas.microsoft.com/office/drawing/2014/main" id="{1981258B-F3F1-4534-812D-891B46E5B558}"/>
              </a:ext>
            </a:extLst>
          </p:cNvPr>
          <p:cNvSpPr>
            <a:spLocks xmlns:a="http://schemas.openxmlformats.org/drawingml/2006/main" noGrp="1"/>
          </p:cNvSpPr>
          <p:nvPr/>
        </p:nvSpPr>
        <p:spPr>
          <a:xfrm xmlns:a="http://schemas.openxmlformats.org/drawingml/2006/main">
            <a:off x="1417320" y="15105888"/>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Check synthetic data</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Review for release</a:t>
            </a:r>
          </a:p>
        </p:txBody>
      </p:sp>
      <p:sp>
        <p:nvSpPr>
          <p:cNvPr id="29" name="Validate">
            <a:extLst xmlns:a="http://schemas.openxmlformats.org/drawingml/2006/main">
              <a:ext uri="{FF2B5EF4-FFF2-40B4-BE49-F238E27FC236}">
                <a16:creationId xmlns:a16="http://schemas.microsoft.com/office/drawing/2014/main" id="{C8D518D7-68AD-4A0C-A25D-02961E6730B1}"/>
              </a:ext>
            </a:extLst>
          </p:cNvPr>
          <p:cNvSpPr>
            <a:spLocks xmlns:a="http://schemas.openxmlformats.org/drawingml/2006/main" noGrp="1"/>
          </p:cNvSpPr>
          <p:nvPr/>
        </p:nvSpPr>
        <p:spPr>
          <a:xfrm xmlns:a="http://schemas.openxmlformats.org/drawingml/2006/main">
            <a:off x="1417320" y="16578072"/>
            <a:ext cx="4709160" cy="960120"/>
          </a:xfrm>
          <a:prstGeom xmlns:a="http://schemas.openxmlformats.org/drawingml/2006/main" prst="rect">
            <a:avLst/>
          </a:prstGeom>
          <a:solidFill xmlns:a="http://schemas.openxmlformats.org/drawingml/2006/main">
            <a:srgbClr val="E0EFD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Run code on real data</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Validate and interpret</a:t>
            </a:r>
          </a:p>
        </p:txBody>
      </p:sp>
      <p:sp>
        <p:nvSpPr>
          <p:cNvPr id="30" name="Approved synthetic data">
            <a:extLst xmlns:a="http://schemas.openxmlformats.org/drawingml/2006/main">
              <a:ext uri="{FF2B5EF4-FFF2-40B4-BE49-F238E27FC236}">
                <a16:creationId xmlns:a16="http://schemas.microsoft.com/office/drawing/2014/main" id="{D736DB4F-72F9-4EEF-81DA-3AAA3EE912C5}"/>
              </a:ext>
            </a:extLst>
          </p:cNvPr>
          <p:cNvSpPr>
            <a:spLocks xmlns:a="http://schemas.openxmlformats.org/drawingml/2006/main" noGrp="1"/>
          </p:cNvSpPr>
          <p:nvPr/>
        </p:nvSpPr>
        <p:spPr>
          <a:xfrm xmlns:a="http://schemas.openxmlformats.org/drawingml/2006/main">
            <a:off x="8595360" y="15105888"/>
            <a:ext cx="4709160" cy="960120"/>
          </a:xfrm>
          <a:prstGeom xmlns:a="http://schemas.openxmlformats.org/drawingml/2006/main" prst="rect">
            <a:avLst/>
          </a:prstGeom>
          <a:solidFill xmlns:a="http://schemas.openxmlformats.org/drawingml/2006/main">
            <a:srgbClr val="DCEAF5"/>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Approved</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synthetic data</a:t>
            </a:r>
          </a:p>
        </p:txBody>
      </p:sp>
      <p:sp>
        <p:nvSpPr>
          <p:cNvPr id="31" name="Develop analysis code">
            <a:extLst xmlns:a="http://schemas.openxmlformats.org/drawingml/2006/main">
              <a:ext uri="{FF2B5EF4-FFF2-40B4-BE49-F238E27FC236}">
                <a16:creationId xmlns:a16="http://schemas.microsoft.com/office/drawing/2014/main" id="{A8B09BC3-6D4C-43C4-9E39-D4837D6FE0EE}"/>
              </a:ext>
            </a:extLst>
          </p:cNvPr>
          <p:cNvSpPr>
            <a:spLocks xmlns:a="http://schemas.openxmlformats.org/drawingml/2006/main" noGrp="1"/>
          </p:cNvSpPr>
          <p:nvPr/>
        </p:nvSpPr>
        <p:spPr>
          <a:xfrm xmlns:a="http://schemas.openxmlformats.org/drawingml/2006/main">
            <a:off x="8595360" y="16578072"/>
            <a:ext cx="4709160" cy="960120"/>
          </a:xfrm>
          <a:prstGeom xmlns:a="http://schemas.openxmlformats.org/drawingml/2006/main" prst="rect">
            <a:avLst/>
          </a:prstGeom>
          <a:solidFill xmlns:a="http://schemas.openxmlformats.org/drawingml/2006/main">
            <a:srgbClr val="FFFFFF"/>
          </a:solidFill>
          <a:ln xmlns:a="http://schemas.openxmlformats.org/drawingml/2006/main" w="14288">
            <a:solidFill>
              <a:srgbClr val="81909C"/>
            </a:solidFill>
          </a:ln>
        </p:spPr>
        <p:txBody>
          <a:bodyPr xmlns:a="http://schemas.openxmlformats.org/drawingml/2006/main" anchor="ctr">
            <a:noAutofit/>
          </a:bodyPr>
          <a:lstStyle xmlns:a="http://schemas.openxmlformats.org/drawingml/2006/main"/>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Develop and debug code</a:t>
            </a:r>
          </a:p>
          <a:p xmlns:a="http://schemas.openxmlformats.org/drawingml/2006/main">
            <a:pPr algn="ctr">
              <a:defRPr sz="2400">
                <a:solidFill>
                  <a:srgbClr val="202020"/>
                </a:solidFill>
                <a:latin typeface="Arial"/>
                <a:ea typeface="Arial"/>
                <a:cs typeface="Arial"/>
              </a:defRPr>
            </a:pPr>
            <a:r>
              <a:rPr sz="2400">
                <a:solidFill>
                  <a:srgbClr val="202020"/>
                </a:solidFill>
                <a:latin typeface="Arial"/>
                <a:ea typeface="Arial"/>
                <a:cs typeface="Arial"/>
              </a:rPr>
              <a:t>with AI assistance</a:t>
            </a:r>
          </a:p>
        </p:txBody>
      </p:sp>
      <p:cxnSp>
        <p:nvCxnSpPr>
          <p:cNvPr id="84" name=""/>
          <p:cNvCxnSpPr>
            <a:stCxn xmlns:a="http://schemas.openxmlformats.org/drawingml/2006/main" id="26" idx="1"/>
            <a:endCxn xmlns:a="http://schemas.openxmlformats.org/drawingml/2006/main" id="29" idx="1"/>
          </p:cNvCxnSpPr>
          <p:nvPr/>
        </p:nvCxnSpPr>
        <p:spPr>
          <a:xfrm xmlns:a="http://schemas.openxmlformats.org/drawingml/2006/main">
            <a:off x="1417320" y="13030200"/>
            <a:ext cx="0" cy="4027932"/>
          </a:xfrm>
          <a:prstGeom xmlns:a="http://schemas.openxmlformats.org/drawingml/2006/main" prst="straightConnector1">
            <a:avLst/>
          </a:prstGeom>
          <a:ln xmlns:a="http://schemas.openxmlformats.org/drawingml/2006/main" w="19050">
            <a:solidFill>
              <a:srgbClr val="5A6873"/>
            </a:solidFill>
            <a:tailEnd type="triangle" w="med" len="med"/>
          </a:ln>
        </p:spPr>
      </p:cxnSp>
      <p:cxnSp>
        <p:nvCxnSpPr>
          <p:cNvPr id="85" name=""/>
          <p:cNvCxnSpPr>
            <a:stCxn xmlns:a="http://schemas.openxmlformats.org/drawingml/2006/main" id="26" idx="2"/>
            <a:endCxn xmlns:a="http://schemas.openxmlformats.org/drawingml/2006/main" id="27" idx="0"/>
          </p:cNvCxnSpPr>
          <p:nvPr/>
        </p:nvCxnSpPr>
        <p:spPr>
          <a:xfrm xmlns:a="http://schemas.openxmlformats.org/drawingml/2006/main">
            <a:off x="3771900" y="13395960"/>
            <a:ext cx="0" cy="347472"/>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6" name=""/>
          <p:cNvCxnSpPr>
            <a:stCxn xmlns:a="http://schemas.openxmlformats.org/drawingml/2006/main" id="27" idx="2"/>
            <a:endCxn xmlns:a="http://schemas.openxmlformats.org/drawingml/2006/main" id="28" idx="0"/>
          </p:cNvCxnSpPr>
          <p:nvPr/>
        </p:nvCxnSpPr>
        <p:spPr>
          <a:xfrm xmlns:a="http://schemas.openxmlformats.org/drawingml/2006/main">
            <a:off x="3771900" y="14703552"/>
            <a:ext cx="0" cy="402336"/>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7" name=""/>
          <p:cNvCxnSpPr>
            <a:stCxn xmlns:a="http://schemas.openxmlformats.org/drawingml/2006/main" id="28" idx="3"/>
            <a:endCxn xmlns:a="http://schemas.openxmlformats.org/drawingml/2006/main" id="30" idx="1"/>
          </p:cNvCxnSpPr>
          <p:nvPr/>
        </p:nvCxnSpPr>
        <p:spPr>
          <a:xfrm xmlns:a="http://schemas.openxmlformats.org/drawingml/2006/main">
            <a:off x="6126480" y="15585948"/>
            <a:ext cx="2468880" cy="0"/>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8" name=""/>
          <p:cNvCxnSpPr>
            <a:stCxn xmlns:a="http://schemas.openxmlformats.org/drawingml/2006/main" id="30" idx="2"/>
            <a:endCxn xmlns:a="http://schemas.openxmlformats.org/drawingml/2006/main" id="31" idx="0"/>
          </p:cNvCxnSpPr>
          <p:nvPr/>
        </p:nvCxnSpPr>
        <p:spPr>
          <a:xfrm xmlns:a="http://schemas.openxmlformats.org/drawingml/2006/main">
            <a:off x="10949940" y="16066008"/>
            <a:ext cx="0" cy="512064"/>
          </a:xfrm>
          <a:prstGeom xmlns:a="http://schemas.openxmlformats.org/drawingml/2006/main" prst="straightConnector1">
            <a:avLst/>
          </a:prstGeom>
          <a:ln xmlns:a="http://schemas.openxmlformats.org/drawingml/2006/main" w="23813">
            <a:solidFill>
              <a:srgbClr val="5A6873"/>
            </a:solidFill>
            <a:tailEnd type="triangle" w="med" len="med"/>
          </a:ln>
        </p:spPr>
      </p:cxnSp>
      <p:cxnSp>
        <p:nvCxnSpPr>
          <p:cNvPr id="89" name=""/>
          <p:cNvCxnSpPr>
            <a:stCxn xmlns:a="http://schemas.openxmlformats.org/drawingml/2006/main" id="31" idx="1"/>
            <a:endCxn xmlns:a="http://schemas.openxmlformats.org/drawingml/2006/main" id="29" idx="3"/>
          </p:cNvCxnSpPr>
          <p:nvPr/>
        </p:nvCxnSpPr>
        <p:spPr>
          <a:xfrm xmlns:a="http://schemas.openxmlformats.org/drawingml/2006/main" flipH="1">
            <a:off x="6126480" y="17058132"/>
            <a:ext cx="2468880" cy="0"/>
          </a:xfrm>
          <a:prstGeom xmlns:a="http://schemas.openxmlformats.org/drawingml/2006/main" prst="straightConnector1">
            <a:avLst/>
          </a:prstGeom>
          <a:ln xmlns:a="http://schemas.openxmlformats.org/drawingml/2006/main" w="23813">
            <a:solidFill>
              <a:srgbClr val="5A6873"/>
            </a:solidFill>
            <a:tailEnd type="triangle" w="med" len="med"/>
          </a:ln>
        </p:spPr>
      </p:cxnSp>
      <p:sp>
        <p:nvSpPr>
          <p:cNvPr id="38" name="Outgoing label">
            <a:extLst xmlns:a="http://schemas.openxmlformats.org/drawingml/2006/main">
              <a:ext uri="{FF2B5EF4-FFF2-40B4-BE49-F238E27FC236}">
                <a16:creationId xmlns:a16="http://schemas.microsoft.com/office/drawing/2014/main" id="{A9F48C25-08E4-4566-8F0D-373B7E044CAE}"/>
              </a:ext>
            </a:extLst>
          </p:cNvPr>
          <p:cNvSpPr>
            <a:spLocks xmlns:a="http://schemas.openxmlformats.org/drawingml/2006/main" noGrp="1"/>
          </p:cNvSpPr>
          <p:nvPr/>
        </p:nvSpPr>
        <p:spPr>
          <a:xfrm xmlns:a="http://schemas.openxmlformats.org/drawingml/2006/main">
            <a:off x="6428232" y="14538960"/>
            <a:ext cx="19202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5252"/>
                </a:solidFill>
                <a:latin typeface="Arial"/>
                <a:ea typeface="Arial"/>
                <a:cs typeface="Arial"/>
              </a:defRPr>
            </a:pPr>
            <a:r>
              <a:rPr sz="2400" b="0">
                <a:solidFill>
                  <a:srgbClr val="525252"/>
                </a:solidFill>
                <a:latin typeface="Arial"/>
                <a:ea typeface="Arial"/>
                <a:cs typeface="Arial"/>
              </a:rPr>
              <a:t>Data out</a:t>
            </a:r>
          </a:p>
        </p:txBody>
      </p:sp>
      <p:sp>
        <p:nvSpPr>
          <p:cNvPr id="39" name="Incoming label">
            <a:extLst xmlns:a="http://schemas.openxmlformats.org/drawingml/2006/main">
              <a:ext uri="{FF2B5EF4-FFF2-40B4-BE49-F238E27FC236}">
                <a16:creationId xmlns:a16="http://schemas.microsoft.com/office/drawing/2014/main" id="{1334838F-E3F1-45EC-AF28-F41CD69DD7FC}"/>
              </a:ext>
            </a:extLst>
          </p:cNvPr>
          <p:cNvSpPr>
            <a:spLocks xmlns:a="http://schemas.openxmlformats.org/drawingml/2006/main" noGrp="1"/>
          </p:cNvSpPr>
          <p:nvPr/>
        </p:nvSpPr>
        <p:spPr>
          <a:xfrm xmlns:a="http://schemas.openxmlformats.org/drawingml/2006/main">
            <a:off x="6291072" y="17282160"/>
            <a:ext cx="224028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5252"/>
                </a:solidFill>
                <a:latin typeface="Arial"/>
                <a:ea typeface="Arial"/>
                <a:cs typeface="Arial"/>
              </a:defRPr>
            </a:pPr>
            <a:r>
              <a:rPr sz="2400" b="0">
                <a:solidFill>
                  <a:srgbClr val="525252"/>
                </a:solidFill>
                <a:latin typeface="Arial"/>
                <a:ea typeface="Arial"/>
                <a:cs typeface="Arial"/>
              </a:rPr>
              <a:t>Code back</a:t>
            </a:r>
          </a:p>
        </p:txBody>
      </p:sp>
      <p:sp>
        <p:nvSpPr>
          <p:cNvPr id="40" name="Selected Methods">
            <a:extLst xmlns:a="http://schemas.openxmlformats.org/drawingml/2006/main">
              <a:ext uri="{FF2B5EF4-FFF2-40B4-BE49-F238E27FC236}">
                <a16:creationId xmlns:a16="http://schemas.microsoft.com/office/drawing/2014/main" id="{1921FBB7-FB9B-4E2D-AA53-B56B1157D92F}"/>
              </a:ext>
            </a:extLst>
          </p:cNvPr>
          <p:cNvSpPr>
            <a:spLocks xmlns:a="http://schemas.openxmlformats.org/drawingml/2006/main" noGrp="1"/>
          </p:cNvSpPr>
          <p:nvPr/>
        </p:nvSpPr>
        <p:spPr>
          <a:xfrm xmlns:a="http://schemas.openxmlformats.org/drawingml/2006/main">
            <a:off x="914400" y="18425160"/>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SELECTED METHODS</a:t>
            </a:r>
          </a:p>
        </p:txBody>
      </p:sp>
      <p:graphicFrame>
        <p:nvGraphicFramePr>
          <p:cNvPr id="93" name=""/>
          <p:cNvGraphicFramePr/>
          <p:nvPr/>
        </p:nvGraphicFramePr>
        <p:xfrm>
          <a:off xmlns:a="http://schemas.openxmlformats.org/drawingml/2006/main" x="914400" y="19229832"/>
          <a:ext xmlns:a="http://schemas.openxmlformats.org/drawingml/2006/main" cx="12893040" cy="5989320"/>
        </p:xfrm>
        <a:graphic xmlns:a="http://schemas.openxmlformats.org/drawingml/2006/main">
          <a:graphicData uri="http://schemas.openxmlformats.org/drawingml/2006/table">
            <a:tbl>
              <a:tblPr/>
              <a:tblGrid>
                <a:gridCol w="2926080"/>
                <a:gridCol w="3017520"/>
                <a:gridCol w="2834640"/>
                <a:gridCol w="1920240"/>
                <a:gridCol w="2194560"/>
              </a:tblGrid>
              <a:tr h="868680">
                <a:tc>
                  <a:txBody>
                    <a:bodyPr>
                      <a:noAutofit/>
                    </a:bodyPr>
                    <a:lstStyle/>
                    <a:p>
                      <a:r>
                        <a:rPr sz="2400" b="1">
                          <a:solidFill>
                            <a:srgbClr val="202020"/>
                          </a:solidFill>
                          <a:latin typeface="Arial"/>
                          <a:ea typeface="Arial"/>
                          <a:cs typeface="Arial"/>
                        </a:rPr>
                        <a:t>Function</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Generation approach</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Required specification</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Formal privacy</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Reportable fingerprint</a:t>
                      </a:r>
                    </a:p>
                  </a:txBody>
                  <a:tcPr marL="91440" marR="91440" marT="45720" marB="45720">
                    <a:solidFill>
                      <a:srgbClr val="ECECEC"/>
                    </a:solidFill>
                  </a:tcPr>
                </a:tc>
              </a:tr>
              <a:tr h="1554480">
                <a:tc>
                  <a:txBody>
                    <a:bodyPr>
                      <a:noAutofit/>
                    </a:bodyPr>
                    <a:lstStyle/>
                    <a:p>
                      <a:r>
                        <a:rPr sz="2400" b="0">
                          <a:solidFill>
                            <a:srgbClr val="202020"/>
                          </a:solidFill>
                          <a:latin typeface="Arial"/>
                          <a:ea typeface="Arial"/>
                          <a:cs typeface="Arial"/>
                        </a:rPr>
                        <a:t>synpmx_prior()</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Simulate a public model and trial design</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Public model; study design</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Yes—uses no private data</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Yes</a:t>
                      </a:r>
                    </a:p>
                  </a:txBody>
                  <a:tcPr marL="91440" marR="91440" marT="45720" marB="45720">
                    <a:solidFill>
                      <a:srgbClr val="FFFFFF"/>
                    </a:solidFill>
                  </a:tcPr>
                </a:tc>
              </a:tr>
              <a:tr h="1783080">
                <a:tc>
                  <a:txBody>
                    <a:bodyPr>
                      <a:noAutofit/>
                    </a:bodyPr>
                    <a:lstStyle/>
                    <a:p>
                      <a:r>
                        <a:rPr sz="2400" b="0">
                          <a:solidFill>
                            <a:srgbClr val="202020"/>
                          </a:solidFill>
                          <a:latin typeface="Arial"/>
                          <a:ea typeface="Arial"/>
                          <a:cs typeface="Arial"/>
                        </a:rPr>
                        <a:t>synpmx_model()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longitudinal PK and PD models; simulate new subjects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Column roles; nominal times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No</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Yes</a:t>
                      </a:r>
                    </a:p>
                  </a:txBody>
                  <a:tcPr marL="91440" marR="91440" marT="45720" marB="45720">
                    <a:solidFill>
                      <a:srgbClr val="FFFFFF"/>
                    </a:solidFill>
                  </a:tcPr>
                </a:tc>
              </a:tr>
              <a:tr h="1783080">
                <a:tc>
                  <a:txBody>
                    <a:bodyPr>
                      <a:noAutofit/>
                    </a:bodyPr>
                    <a:lstStyle/>
                    <a:p>
                      <a:r>
                        <a:rPr sz="2400" b="0">
                          <a:solidFill>
                            <a:srgbClr val="202020"/>
                          </a:solidFill>
                          <a:latin typeface="Arial"/>
                          <a:ea typeface="Arial"/>
                          <a:cs typeface="Arial"/>
                        </a:rPr>
                        <a:t>synpmx_avatar()</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Blend similar patient profiles; AVATAR-inspired [1]</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Column roles; nominal times recommended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No</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No</a:t>
                      </a:r>
                    </a:p>
                  </a:txBody>
                  <a:tcPr marL="91440" marR="91440" marT="45720" marB="45720">
                    <a:solidFill>
                      <a:srgbClr val="FFFFFF"/>
                    </a:solidFill>
                  </a:tcPr>
                </a:tc>
              </a:tr>
            </a:tbl>
          </a:graphicData>
        </a:graphic>
      </p:graphicFrame>
      <p:sp>
        <p:nvSpPr>
          <p:cNvPr id="42" name="Fingerprint explanation">
            <a:extLst xmlns:a="http://schemas.openxmlformats.org/drawingml/2006/main">
              <a:ext uri="{FF2B5EF4-FFF2-40B4-BE49-F238E27FC236}">
                <a16:creationId xmlns:a16="http://schemas.microsoft.com/office/drawing/2014/main" id="{470AE6C9-8A07-49A9-A2F0-78A8E7147E1F}"/>
              </a:ext>
            </a:extLst>
          </p:cNvPr>
          <p:cNvSpPr>
            <a:spLocks xmlns:a="http://schemas.openxmlformats.org/drawingml/2006/main" noGrp="1"/>
          </p:cNvSpPr>
          <p:nvPr/>
        </p:nvSpPr>
        <p:spPr>
          <a:xfrm xmlns:a="http://schemas.openxmlformats.org/drawingml/2006/main">
            <a:off x="914400" y="25374600"/>
            <a:ext cx="1289304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 reportable fingerprint is a compact model-and-parameter representation that generates synthetic data without retaining source patient profiles.</a:t>
            </a:r>
          </a:p>
        </p:txBody>
      </p:sp>
      <p:sp>
        <p:nvSpPr>
          <p:cNvPr id="43" name="Fitted-Model Generator">
            <a:extLst xmlns:a="http://schemas.openxmlformats.org/drawingml/2006/main">
              <a:ext uri="{FF2B5EF4-FFF2-40B4-BE49-F238E27FC236}">
                <a16:creationId xmlns:a16="http://schemas.microsoft.com/office/drawing/2014/main" id="{0560EDB7-84C6-4ACC-AEF5-E3431C092BB1}"/>
              </a:ext>
            </a:extLst>
          </p:cNvPr>
          <p:cNvSpPr>
            <a:spLocks xmlns:a="http://schemas.openxmlformats.org/drawingml/2006/main" noGrp="1"/>
          </p:cNvSpPr>
          <p:nvPr/>
        </p:nvSpPr>
        <p:spPr>
          <a:xfrm xmlns:a="http://schemas.openxmlformats.org/drawingml/2006/main">
            <a:off x="914400" y="26545032"/>
            <a:ext cx="1289304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FITTED-MODEL GENERATOR</a:t>
            </a:r>
          </a:p>
        </p:txBody>
      </p:sp>
      <p:sp>
        <p:nvSpPr>
          <p:cNvPr id="44" name="Algorithm function">
            <a:extLst xmlns:a="http://schemas.openxmlformats.org/drawingml/2006/main">
              <a:ext uri="{FF2B5EF4-FFF2-40B4-BE49-F238E27FC236}">
                <a16:creationId xmlns:a16="http://schemas.microsoft.com/office/drawing/2014/main" id="{9439B7BC-8216-46A3-953C-E27795BE3778}"/>
              </a:ext>
            </a:extLst>
          </p:cNvPr>
          <p:cNvSpPr>
            <a:spLocks xmlns:a="http://schemas.openxmlformats.org/drawingml/2006/main" noGrp="1"/>
          </p:cNvSpPr>
          <p:nvPr/>
        </p:nvSpPr>
        <p:spPr>
          <a:xfrm xmlns:a="http://schemas.openxmlformats.org/drawingml/2006/main">
            <a:off x="914400" y="27285696"/>
            <a:ext cx="128930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020"/>
                </a:solidFill>
                <a:latin typeface="Arial"/>
                <a:ea typeface="Arial"/>
                <a:cs typeface="Arial"/>
              </a:defRPr>
            </a:pPr>
            <a:r>
              <a:rPr sz="2400" b="1">
                <a:solidFill>
                  <a:srgbClr val="202020"/>
                </a:solidFill>
                <a:latin typeface="Arial"/>
                <a:ea typeface="Arial"/>
                <a:cs typeface="Arial"/>
              </a:rPr>
              <a:t>synpmx_model()   /   LOQ: limit of quantification</a:t>
            </a:r>
          </a:p>
        </p:txBody>
      </p:sp>
      <p:graphicFrame>
        <p:nvGraphicFramePr>
          <p:cNvPr id="97" name=""/>
          <p:cNvGraphicFramePr/>
          <p:nvPr/>
        </p:nvGraphicFramePr>
        <p:xfrm>
          <a:off xmlns:a="http://schemas.openxmlformats.org/drawingml/2006/main" x="914400" y="27953208"/>
          <a:ext xmlns:a="http://schemas.openxmlformats.org/drawingml/2006/main" cx="12893040" cy="9418320"/>
        </p:xfrm>
        <a:graphic xmlns:a="http://schemas.openxmlformats.org/drawingml/2006/main">
          <a:graphicData uri="http://schemas.openxmlformats.org/drawingml/2006/table">
            <a:tbl>
              <a:tblPr/>
              <a:tblGrid>
                <a:gridCol w="2926080"/>
                <a:gridCol w="9966960"/>
              </a:tblGrid>
              <a:tr h="502920">
                <a:tc>
                  <a:txBody>
                    <a:bodyPr>
                      <a:noAutofit/>
                    </a:bodyPr>
                    <a:lstStyle/>
                    <a:p>
                      <a:r>
                        <a:rPr sz="2400" b="1">
                          <a:solidFill>
                            <a:srgbClr val="202020"/>
                          </a:solidFill>
                          <a:latin typeface="Arial"/>
                          <a:ea typeface="Arial"/>
                          <a:cs typeface="Arial"/>
                        </a:rPr>
                        <a:t>Component</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Description</a:t>
                      </a:r>
                    </a:p>
                  </a:txBody>
                  <a:tcPr marL="91440" marR="91440" marT="45720" marB="45720">
                    <a:solidFill>
                      <a:srgbClr val="ECECEC"/>
                    </a:solidFill>
                  </a:tcPr>
                </a:tc>
              </a:tr>
              <a:tr h="1737360">
                <a:tc>
                  <a:txBody>
                    <a:bodyPr>
                      <a:noAutofit/>
                    </a:bodyPr>
                    <a:lstStyle/>
                    <a:p>
                      <a:r>
                        <a:rPr sz="2400" b="0">
                          <a:solidFill>
                            <a:srgbClr val="202020"/>
                          </a:solidFill>
                          <a:latin typeface="Arial"/>
                          <a:ea typeface="Arial"/>
                          <a:cs typeface="Arial"/>
                        </a:rPr>
                        <a:t>Disclosure safeguards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Generate new IDs; Drop all columns without defined roles; Drop arms with fewer than 3 patients; Exclude categorical covariate levels held by fewer than 3 patients and sample from the remaining levels (configurable thresholds)</a:t>
                      </a:r>
                    </a:p>
                  </a:txBody>
                  <a:tcPr marL="91440" marR="91440" marT="45720" marB="45720">
                    <a:solidFill>
                      <a:srgbClr val="FFFFFF"/>
                    </a:solidFill>
                  </a:tcPr>
                </a:tc>
              </a:tr>
              <a:tr h="1234440">
                <a:tc>
                  <a:txBody>
                    <a:bodyPr>
                      <a:noAutofit/>
                    </a:bodyPr>
                    <a:lstStyle/>
                    <a:p>
                      <a:r>
                        <a:rPr sz="2400" b="0">
                          <a:solidFill>
                            <a:srgbClr val="202020"/>
                          </a:solidFill>
                          <a:latin typeface="Arial"/>
                          <a:ea typeface="Arial"/>
                          <a:cs typeface="Arial"/>
                        </a:rPr>
                        <a:t>Dosing</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Estimate constant per-cycle probabilities within each arm for skipped cycles, dose reductions and treatment discontinuation; simulate dosing schedules from these probabilities.</a:t>
                      </a:r>
                    </a:p>
                  </a:txBody>
                  <a:tcPr marL="91440" marR="91440" marT="45720" marB="45720">
                    <a:solidFill>
                      <a:srgbClr val="FFFFFF"/>
                    </a:solidFill>
                  </a:tcPr>
                </a:tc>
              </a:tr>
              <a:tr h="1005840">
                <a:tc>
                  <a:txBody>
                    <a:bodyPr>
                      <a:noAutofit/>
                    </a:bodyPr>
                    <a:lstStyle/>
                    <a:p>
                      <a:r>
                        <a:rPr sz="2400" b="0">
                          <a:solidFill>
                            <a:srgbClr val="202020"/>
                          </a:solidFill>
                          <a:latin typeface="Arial"/>
                          <a:ea typeface="Arial"/>
                          <a:cs typeface="Arial"/>
                        </a:rPr>
                        <a:t>Observations</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Estimate attendance probabilities within each arm, endpoint and nominal visit; simulate missed observations.</a:t>
                      </a:r>
                    </a:p>
                  </a:txBody>
                  <a:tcPr marL="91440" marR="91440" marT="45720" marB="45720">
                    <a:solidFill>
                      <a:srgbClr val="FFFFFF"/>
                    </a:solidFill>
                  </a:tcPr>
                </a:tc>
              </a:tr>
              <a:tr h="1783080">
                <a:tc>
                  <a:txBody>
                    <a:bodyPr>
                      <a:noAutofit/>
                    </a:bodyPr>
                    <a:lstStyle/>
                    <a:p>
                      <a:r>
                        <a:rPr sz="2400" b="0">
                          <a:solidFill>
                            <a:srgbClr val="202020"/>
                          </a:solidFill>
                          <a:latin typeface="Arial"/>
                          <a:ea typeface="Arial"/>
                          <a:cs typeface="Arial"/>
                        </a:rPr>
                        <a:t>Population PK</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a two-compartment model using nlmixr2 first; fall back to a one-compartment model if the fit fails convergence or generation checks. An optimizer-stall warning alone does not reject a usable fit. Simulate PK from the accepted model. Users can specify a model instead.</a:t>
                      </a:r>
                    </a:p>
                  </a:txBody>
                  <a:tcPr marL="91440" marR="91440" marT="45720" marB="45720">
                    <a:solidFill>
                      <a:srgbClr val="FFFFFF"/>
                    </a:solidFill>
                  </a:tcPr>
                </a:tc>
              </a:tr>
              <a:tr h="1828800">
                <a:tc>
                  <a:txBody>
                    <a:bodyPr>
                      <a:noAutofit/>
                    </a:bodyPr>
                    <a:lstStyle/>
                    <a:p>
                      <a:r>
                        <a:rPr sz="2400" b="0">
                          <a:solidFill>
                            <a:srgbClr val="202020"/>
                          </a:solidFill>
                          <a:latin typeface="Arial"/>
                          <a:ea typeface="Arial"/>
                          <a:cs typeface="Arial"/>
                        </a:rPr>
                        <a:t>PD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Fit constant, linear or exponential time courses with subject variability and residual error. Pool arms by default; use pd_by_arm = TRUE to represent differences between arms. Sample discrete endpoints within each arm and nominal visit.</a:t>
                      </a:r>
                    </a:p>
                  </a:txBody>
                  <a:tcPr marL="91440" marR="91440" marT="45720" marB="45720">
                    <a:solidFill>
                      <a:srgbClr val="FFFFFF"/>
                    </a:solidFill>
                  </a:tcPr>
                </a:tc>
              </a:tr>
              <a:tr h="1325880">
                <a:tc>
                  <a:txBody>
                    <a:bodyPr>
                      <a:noAutofit/>
                    </a:bodyPr>
                    <a:lstStyle/>
                    <a:p>
                      <a:r>
                        <a:rPr sz="2400" b="0">
                          <a:solidFill>
                            <a:srgbClr val="202020"/>
                          </a:solidFill>
                          <a:latin typeface="Arial"/>
                          <a:ea typeface="Arial"/>
                          <a:cs typeface="Arial"/>
                        </a:rPr>
                        <a:t>LOQ</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Apply declared censoring limits. Otherwise, for predominantly positive continuous endpoints, use half the smallest positive observation as a heuristic lower bound.</a:t>
                      </a:r>
                    </a:p>
                  </a:txBody>
                  <a:tcPr marL="91440" marR="91440" marT="45720" marB="45720">
                    <a:solidFill>
                      <a:srgbClr val="FFFFFF"/>
                    </a:solidFill>
                  </a:tcPr>
                </a:tc>
              </a:tr>
            </a:tbl>
          </a:graphicData>
        </a:graphic>
      </p:graphicFrame>
      <p:sp>
        <p:nvSpPr>
          <p:cNvPr id="46" name="Worked Example">
            <a:extLst xmlns:a="http://schemas.openxmlformats.org/drawingml/2006/main">
              <a:ext uri="{FF2B5EF4-FFF2-40B4-BE49-F238E27FC236}">
                <a16:creationId xmlns:a16="http://schemas.microsoft.com/office/drawing/2014/main" id="{CCDACA19-E007-4EAF-A778-7F58CF853766}"/>
              </a:ext>
            </a:extLst>
          </p:cNvPr>
          <p:cNvSpPr>
            <a:spLocks xmlns:a="http://schemas.openxmlformats.org/drawingml/2006/main" noGrp="1"/>
          </p:cNvSpPr>
          <p:nvPr/>
        </p:nvSpPr>
        <p:spPr>
          <a:xfrm xmlns:a="http://schemas.openxmlformats.org/drawingml/2006/main">
            <a:off x="14630400" y="6995160"/>
            <a:ext cx="1737360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WORKED EXAMPLE</a:t>
            </a:r>
          </a:p>
        </p:txBody>
      </p:sp>
      <p:sp>
        <p:nvSpPr>
          <p:cNvPr id="47" name="Example introduction">
            <a:extLst xmlns:a="http://schemas.openxmlformats.org/drawingml/2006/main">
              <a:ext uri="{FF2B5EF4-FFF2-40B4-BE49-F238E27FC236}">
                <a16:creationId xmlns:a16="http://schemas.microsoft.com/office/drawing/2014/main" id="{B6EDE305-1B36-4CB9-9886-583B0DC61902}"/>
              </a:ext>
            </a:extLst>
          </p:cNvPr>
          <p:cNvSpPr>
            <a:spLocks xmlns:a="http://schemas.openxmlformats.org/drawingml/2006/main" noGrp="1"/>
          </p:cNvSpPr>
          <p:nvPr/>
        </p:nvSpPr>
        <p:spPr>
          <a:xfrm xmlns:a="http://schemas.openxmlformats.org/drawingml/2006/main">
            <a:off x="14630400" y="7772400"/>
            <a:ext cx="17373600" cy="12070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Public xgxr::mad data combines PK concentrations with continuous, ordinal, count and binary PD endpoints. Blue shows source data and orange shows synthetic data.</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86b6a3ad3b9b4371">
            <a:extLst>
              <a:ext uri="{96DAC541-7B7A-43D3-8B79-37D633B846F1}">
                <asvg:svgBlip xmlns:asvg="http://schemas.microsoft.com/office/drawing/2016/SVG/main" r:embed="R46b44909d44c4a20"/>
              </a:ext>
            </a:extLst>
          </a:blip>
          <a:stretch xmlns:a="http://schemas.openxmlformats.org/drawingml/2006/main"/>
        </p:blipFill>
        <p:spPr>
          <a:xfrm xmlns:a="http://schemas.openxmlformats.org/drawingml/2006/main">
            <a:off x="14630400" y="9171432"/>
            <a:ext cx="17373600" cy="6756400"/>
          </a:xfrm>
          <a:prstGeom xmlns:a="http://schemas.openxmlformats.org/drawingml/2006/main" prst="rect">
            <a:avLst/>
          </a:prstGeom>
        </p:spPr>
      </p:pic>
      <p:sp>
        <p:nvSpPr>
          <p:cNvPr id="49" name="PK caption">
            <a:extLst xmlns:a="http://schemas.openxmlformats.org/drawingml/2006/main">
              <a:ext uri="{FF2B5EF4-FFF2-40B4-BE49-F238E27FC236}">
                <a16:creationId xmlns:a16="http://schemas.microsoft.com/office/drawing/2014/main" id="{352A3913-4B81-4007-8BEC-F22C59BCD57E}"/>
              </a:ext>
            </a:extLst>
          </p:cNvPr>
          <p:cNvSpPr>
            <a:spLocks xmlns:a="http://schemas.openxmlformats.org/drawingml/2006/main" noGrp="1"/>
          </p:cNvSpPr>
          <p:nvPr/>
        </p:nvSpPr>
        <p:spPr>
          <a:xfrm xmlns:a="http://schemas.openxmlformats.org/drawingml/2006/main">
            <a:off x="14630400" y="16093440"/>
            <a:ext cx="17373600"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3a. The accepted two-compartment model reproduces the peak and biphasic decline over the first dosing interval.</a:t>
            </a:r>
          </a:p>
        </p:txBody>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15a35de8a3a54245">
            <a:extLst>
              <a:ext uri="{96DAC541-7B7A-43D3-8B79-37D633B846F1}">
                <asvg:svgBlip xmlns:asvg="http://schemas.microsoft.com/office/drawing/2016/SVG/main" r:embed="Ra40c1b9ba21948d0"/>
              </a:ext>
            </a:extLst>
          </a:blip>
          <a:stretch xmlns:a="http://schemas.openxmlformats.org/drawingml/2006/main"/>
        </p:blipFill>
        <p:spPr>
          <a:xfrm xmlns:a="http://schemas.openxmlformats.org/drawingml/2006/main">
            <a:off x="14630400" y="17437608"/>
            <a:ext cx="17373600" cy="6756400"/>
          </a:xfrm>
          <a:prstGeom xmlns:a="http://schemas.openxmlformats.org/drawingml/2006/main" prst="rect">
            <a:avLst/>
          </a:prstGeom>
        </p:spPr>
      </p:pic>
      <p:sp>
        <p:nvSpPr>
          <p:cNvPr id="51" name="PD caption">
            <a:extLst xmlns:a="http://schemas.openxmlformats.org/drawingml/2006/main">
              <a:ext uri="{FF2B5EF4-FFF2-40B4-BE49-F238E27FC236}">
                <a16:creationId xmlns:a16="http://schemas.microsoft.com/office/drawing/2014/main" id="{1C6B092E-A443-4B03-BB71-20478A2A5452}"/>
              </a:ext>
            </a:extLst>
          </p:cNvPr>
          <p:cNvSpPr>
            <a:spLocks xmlns:a="http://schemas.openxmlformats.org/drawingml/2006/main" noGrp="1"/>
          </p:cNvSpPr>
          <p:nvPr/>
        </p:nvSpPr>
        <p:spPr>
          <a:xfrm xmlns:a="http://schemas.openxmlformats.org/drawingml/2006/main">
            <a:off x="14630400" y="24377904"/>
            <a:ext cx="17373600" cy="1024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3b. Pooling arms removes between-arm response differences. Use pd_by_arm = TRUE to fit separate time courses by arm.</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76a57f69ee814fd5">
            <a:extLst>
              <a:ext uri="{96DAC541-7B7A-43D3-8B79-37D633B846F1}">
                <asvg:svgBlip xmlns:asvg="http://schemas.microsoft.com/office/drawing/2016/SVG/main" r:embed="R1c93ac5f2c714181"/>
              </a:ext>
            </a:extLst>
          </a:blip>
          <a:stretch xmlns:a="http://schemas.openxmlformats.org/drawingml/2006/main"/>
        </p:blipFill>
        <p:spPr>
          <a:xfrm xmlns:a="http://schemas.openxmlformats.org/drawingml/2006/main">
            <a:off x="14630400" y="25767792"/>
            <a:ext cx="17373600" cy="4343400"/>
          </a:xfrm>
          <a:prstGeom xmlns:a="http://schemas.openxmlformats.org/drawingml/2006/main" prst="rect">
            <a:avLst/>
          </a:prstGeom>
        </p:spPr>
      </p:pic>
      <p:sp>
        <p:nvSpPr>
          <p:cNvPr id="53" name="Distribution caption">
            <a:extLst xmlns:a="http://schemas.openxmlformats.org/drawingml/2006/main">
              <a:ext uri="{FF2B5EF4-FFF2-40B4-BE49-F238E27FC236}">
                <a16:creationId xmlns:a16="http://schemas.microsoft.com/office/drawing/2014/main" id="{49839DEA-3952-41FA-B6C5-466DFEF152D2}"/>
              </a:ext>
            </a:extLst>
          </p:cNvPr>
          <p:cNvSpPr>
            <a:spLocks xmlns:a="http://schemas.openxmlformats.org/drawingml/2006/main" noGrp="1"/>
          </p:cNvSpPr>
          <p:nvPr/>
        </p:nvSpPr>
        <p:spPr>
          <a:xfrm xmlns:a="http://schemas.openxmlformats.org/drawingml/2006/main">
            <a:off x="14630400" y="30220920"/>
            <a:ext cx="1737360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Figure 3c. Similar pooled distributions can conceal differences in profiles. Density curves peak at one. Sex uses proportions. The scorecard checks structure, distribution changes and potential patient copying.</a:t>
            </a:r>
          </a:p>
        </p:txBody>
      </p:sp>
      <p:sp>
        <p:nvSpPr>
          <p:cNvPr id="54" name="Datasets Evaluated">
            <a:extLst xmlns:a="http://schemas.openxmlformats.org/drawingml/2006/main">
              <a:ext uri="{FF2B5EF4-FFF2-40B4-BE49-F238E27FC236}">
                <a16:creationId xmlns:a16="http://schemas.microsoft.com/office/drawing/2014/main" id="{21CA4527-CD92-4076-938A-A2D7C4531FE5}"/>
              </a:ext>
            </a:extLst>
          </p:cNvPr>
          <p:cNvSpPr>
            <a:spLocks xmlns:a="http://schemas.openxmlformats.org/drawingml/2006/main" noGrp="1"/>
          </p:cNvSpPr>
          <p:nvPr/>
        </p:nvSpPr>
        <p:spPr>
          <a:xfrm xmlns:a="http://schemas.openxmlformats.org/drawingml/2006/main">
            <a:off x="14630400" y="31967424"/>
            <a:ext cx="1737360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DATASETS EVALUATED</a:t>
            </a:r>
          </a:p>
        </p:txBody>
      </p:sp>
      <p:graphicFrame>
        <p:nvGraphicFramePr>
          <p:cNvPr id="107" name=""/>
          <p:cNvGraphicFramePr/>
          <p:nvPr/>
        </p:nvGraphicFramePr>
        <p:xfrm>
          <a:off xmlns:a="http://schemas.openxmlformats.org/drawingml/2006/main" x="14630400" y="32735520"/>
          <a:ext xmlns:a="http://schemas.openxmlformats.org/drawingml/2006/main" cx="17373600" cy="5029200"/>
        </p:xfrm>
        <a:graphic xmlns:a="http://schemas.openxmlformats.org/drawingml/2006/main">
          <a:graphicData uri="http://schemas.openxmlformats.org/drawingml/2006/table">
            <a:tbl>
              <a:tblPr/>
              <a:tblGrid>
                <a:gridCol w="3337560"/>
                <a:gridCol w="4389120"/>
                <a:gridCol w="9646920"/>
              </a:tblGrid>
              <a:tr h="457200">
                <a:tc>
                  <a:txBody>
                    <a:bodyPr>
                      <a:noAutofit/>
                    </a:bodyPr>
                    <a:lstStyle/>
                    <a:p>
                      <a:r>
                        <a:rPr sz="2400" b="1">
                          <a:solidFill>
                            <a:srgbClr val="202020"/>
                          </a:solidFill>
                          <a:latin typeface="Arial"/>
                          <a:ea typeface="Arial"/>
                          <a:cs typeface="Arial"/>
                        </a:rPr>
                        <a:t>Dataset</a:t>
                      </a:r>
                    </a:p>
                  </a:txBody>
                  <a:tcPr marL="91440" marR="91440" marT="45720" marB="45720">
                    <a:solidFill>
                      <a:srgbClr val="ECECEC"/>
                    </a:solidFill>
                  </a:tcPr>
                </a:tc>
                <a:tc>
                  <a:txBody>
                    <a:bodyPr>
                      <a:noAutofit/>
                    </a:bodyPr>
                    <a:lstStyle/>
                    <a:p>
                      <a:pPr algn="r"/>
                      <a:r>
                        <a:rPr sz="2400" b="1">
                          <a:solidFill>
                            <a:srgbClr val="202020"/>
                          </a:solidFill>
                          <a:latin typeface="Arial"/>
                          <a:ea typeface="Arial"/>
                          <a:cs typeface="Arial"/>
                        </a:rPr>
                        <a:t>Patients</a:t>
                      </a:r>
                    </a:p>
                  </a:txBody>
                  <a:tcPr marL="91440" marR="91440" marT="45720" marB="45720">
                    <a:solidFill>
                      <a:srgbClr val="ECECEC"/>
                    </a:solidFill>
                  </a:tcPr>
                </a:tc>
                <a:tc>
                  <a:txBody>
                    <a:bodyPr>
                      <a:noAutofit/>
                    </a:bodyPr>
                    <a:lstStyle/>
                    <a:p>
                      <a:r>
                        <a:rPr sz="2400" b="1">
                          <a:solidFill>
                            <a:srgbClr val="202020"/>
                          </a:solidFill>
                          <a:latin typeface="Arial"/>
                          <a:ea typeface="Arial"/>
                          <a:cs typeface="Arial"/>
                        </a:rPr>
                        <a:t>Design feature</a:t>
                      </a:r>
                    </a:p>
                  </a:txBody>
                  <a:tcPr marL="91440" marR="91440" marT="45720" marB="45720">
                    <a:solidFill>
                      <a:srgbClr val="ECECEC"/>
                    </a:solidFill>
                  </a:tcPr>
                </a:tc>
              </a:tr>
              <a:tr h="457200">
                <a:tc>
                  <a:txBody>
                    <a:bodyPr>
                      <a:noAutofit/>
                    </a:bodyPr>
                    <a:lstStyle/>
                    <a:p>
                      <a:r>
                        <a:rPr sz="2400" b="0">
                          <a:solidFill>
                            <a:srgbClr val="202020"/>
                          </a:solidFill>
                          <a:latin typeface="Arial"/>
                          <a:ea typeface="Arial"/>
                          <a:cs typeface="Arial"/>
                        </a:rPr>
                        <a:t>case1_pkpd</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180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Multiple arms; censored concentrations</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mad</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60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Multiple doses; mixed endpoint types (continuous, categorical)</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warfarin</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32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Single oral dose; delayed response</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wbcSim</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45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Infusions; white-cell nadir and recovery</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mavoglurant</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120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Repeated occasions; resetting clock</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theo_md</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12 (actual +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Repeated oral doses; small cohort</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nimoData</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12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Weekly infusions; small cohort</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pheno_sd</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59 (actual)</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Neonatal care; sparse, irregular sampling</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mixroute_sim</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90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Intravenous and subcutaneous dosing</a:t>
                      </a:r>
                    </a:p>
                  </a:txBody>
                  <a:tcPr marL="91440" marR="91440" marT="45720" marB="45720">
                    <a:solidFill>
                      <a:srgbClr val="FFFFFF"/>
                    </a:solidFill>
                  </a:tcPr>
                </a:tc>
              </a:tr>
              <a:tr h="457200">
                <a:tc>
                  <a:txBody>
                    <a:bodyPr>
                      <a:noAutofit/>
                    </a:bodyPr>
                    <a:lstStyle/>
                    <a:p>
                      <a:r>
                        <a:rPr sz="2400" b="0">
                          <a:solidFill>
                            <a:srgbClr val="202020"/>
                          </a:solidFill>
                          <a:latin typeface="Arial"/>
                          <a:ea typeface="Arial"/>
                          <a:cs typeface="Arial"/>
                        </a:rPr>
                        <a:t>onc_sim</a:t>
                      </a:r>
                    </a:p>
                  </a:txBody>
                  <a:tcPr marL="91440" marR="91440" marT="45720" marB="45720">
                    <a:solidFill>
                      <a:srgbClr val="FFFFFF"/>
                    </a:solidFill>
                  </a:tcPr>
                </a:tc>
                <a:tc>
                  <a:txBody>
                    <a:bodyPr>
                      <a:noAutofit/>
                    </a:bodyPr>
                    <a:lstStyle/>
                    <a:p>
                      <a:pPr algn="r"/>
                      <a:r>
                        <a:rPr sz="2400" b="0">
                          <a:solidFill>
                            <a:srgbClr val="202020"/>
                          </a:solidFill>
                          <a:latin typeface="Arial"/>
                          <a:ea typeface="Arial"/>
                          <a:cs typeface="Arial"/>
                        </a:rPr>
                        <a:t>200 (simulated)</a:t>
                      </a:r>
                    </a:p>
                  </a:txBody>
                  <a:tcPr marL="91440" marR="91440" marT="45720" marB="45720">
                    <a:solidFill>
                      <a:srgbClr val="FFFFFF"/>
                    </a:solidFill>
                  </a:tcPr>
                </a:tc>
                <a:tc>
                  <a:txBody>
                    <a:bodyPr>
                      <a:noAutofit/>
                    </a:bodyPr>
                    <a:lstStyle/>
                    <a:p>
                      <a:r>
                        <a:rPr sz="2400" b="0">
                          <a:solidFill>
                            <a:srgbClr val="202020"/>
                          </a:solidFill>
                          <a:latin typeface="Arial"/>
                          <a:ea typeface="Arial"/>
                          <a:cs typeface="Arial"/>
                        </a:rPr>
                        <a:t>Trough sampling; tumour response; dose changes</a:t>
                      </a:r>
                    </a:p>
                  </a:txBody>
                  <a:tcPr marL="91440" marR="91440" marT="45720" marB="45720">
                    <a:solidFill>
                      <a:srgbClr val="FFFFFF"/>
                    </a:solidFill>
                  </a:tcPr>
                </a:tc>
              </a:tr>
            </a:tbl>
          </a:graphicData>
        </a:graphic>
      </p:graphicFrame>
      <p:sp>
        <p:nvSpPr>
          <p:cNvPr id="56" name="Footer band">
            <a:extLst xmlns:a="http://schemas.openxmlformats.org/drawingml/2006/main">
              <a:ext uri="{FF2B5EF4-FFF2-40B4-BE49-F238E27FC236}">
                <a16:creationId xmlns:a16="http://schemas.microsoft.com/office/drawing/2014/main" id="{0EFF4F98-0FFE-4C35-8AD6-6A0FE3FBFF8F}"/>
              </a:ext>
            </a:extLst>
          </p:cNvPr>
          <p:cNvSpPr>
            <a:spLocks xmlns:a="http://schemas.openxmlformats.org/drawingml/2006/main" noGrp="1"/>
          </p:cNvSpPr>
          <p:nvPr/>
        </p:nvSpPr>
        <p:spPr>
          <a:xfrm xmlns:a="http://schemas.openxmlformats.org/drawingml/2006/main">
            <a:off x="914400" y="38450520"/>
            <a:ext cx="31089600" cy="5166360"/>
          </a:xfrm>
          <a:prstGeom xmlns:a="http://schemas.openxmlformats.org/drawingml/2006/main" prst="rect">
            <a:avLst/>
          </a:prstGeom>
          <a:solidFill xmlns:a="http://schemas.openxmlformats.org/drawingml/2006/main">
            <a:srgbClr val="F1F1F1"/>
          </a:solidFill>
          <a:ln xmlns:a="http://schemas.openxmlformats.org/drawingml/2006/main" w="0">
            <a:noFill/>
          </a:ln>
        </p:spPr>
      </p:sp>
      <p:sp>
        <p:nvSpPr>
          <p:cNvPr id="57" name="Availability and Disclosures">
            <a:extLst xmlns:a="http://schemas.openxmlformats.org/drawingml/2006/main">
              <a:ext uri="{FF2B5EF4-FFF2-40B4-BE49-F238E27FC236}">
                <a16:creationId xmlns:a16="http://schemas.microsoft.com/office/drawing/2014/main" id="{9B0D5DA0-A223-47FA-8ACC-3996884B539E}"/>
              </a:ext>
            </a:extLst>
          </p:cNvPr>
          <p:cNvSpPr>
            <a:spLocks xmlns:a="http://schemas.openxmlformats.org/drawingml/2006/main" noGrp="1"/>
          </p:cNvSpPr>
          <p:nvPr/>
        </p:nvSpPr>
        <p:spPr>
          <a:xfrm xmlns:a="http://schemas.openxmlformats.org/drawingml/2006/main">
            <a:off x="1188720" y="38697408"/>
            <a:ext cx="1476756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AVAILABILITY AND DISCLOSURES</a:t>
            </a:r>
          </a:p>
        </p:txBody>
      </p:sp>
      <p:sp>
        <p:nvSpPr>
          <p:cNvPr id="58" name="Availability">
            <a:extLst xmlns:a="http://schemas.openxmlformats.org/drawingml/2006/main">
              <a:ext uri="{FF2B5EF4-FFF2-40B4-BE49-F238E27FC236}">
                <a16:creationId xmlns:a16="http://schemas.microsoft.com/office/drawing/2014/main" id="{F24BD662-7A91-4FA1-8525-063FED72E24C}"/>
              </a:ext>
            </a:extLst>
          </p:cNvPr>
          <p:cNvSpPr>
            <a:spLocks xmlns:a="http://schemas.openxmlformats.org/drawingml/2006/main" noGrp="1"/>
          </p:cNvSpPr>
          <p:nvPr/>
        </p:nvSpPr>
        <p:spPr>
          <a:xfrm xmlns:a="http://schemas.openxmlformats.org/drawingml/2006/main">
            <a:off x="1188720" y="39438072"/>
            <a:ext cx="14721840" cy="2331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R package prototype, source code and worked examples:</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iamstein.github.io/synpmx/</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Internal discussions on use are ongoing. Almost all package code was written by ChatGPT and Claude and has not yet been formally verified. Establishing validation is a next step.</a:t>
            </a:r>
          </a:p>
        </p:txBody>
      </p:sp>
      <p:sp>
        <p:nvSpPr>
          <p:cNvPr id="59" name="AI disclosure">
            <a:extLst xmlns:a="http://schemas.openxmlformats.org/drawingml/2006/main">
              <a:ext uri="{FF2B5EF4-FFF2-40B4-BE49-F238E27FC236}">
                <a16:creationId xmlns:a16="http://schemas.microsoft.com/office/drawing/2014/main" id="{38832A6C-ED6B-4DD4-9A56-4680F8DE54A1}"/>
              </a:ext>
            </a:extLst>
          </p:cNvPr>
          <p:cNvSpPr>
            <a:spLocks xmlns:a="http://schemas.openxmlformats.org/drawingml/2006/main" noGrp="1"/>
          </p:cNvSpPr>
          <p:nvPr/>
        </p:nvSpPr>
        <p:spPr>
          <a:xfrm xmlns:a="http://schemas.openxmlformats.org/drawingml/2006/main">
            <a:off x="1188720" y="41440608"/>
            <a:ext cx="14721840" cy="1481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During the preparation of this work, the authors used ChatGPT and Claude to develop code and assist with poster preparation. After using these tools, the authors reviewed and edited the content as needed and take full responsibility for the content of the publication.</a:t>
            </a:r>
          </a:p>
        </p:txBody>
      </p:sp>
      <p:sp>
        <p:nvSpPr>
          <p:cNvPr id="60" name="References">
            <a:extLst xmlns:a="http://schemas.openxmlformats.org/drawingml/2006/main">
              <a:ext uri="{FF2B5EF4-FFF2-40B4-BE49-F238E27FC236}">
                <a16:creationId xmlns:a16="http://schemas.microsoft.com/office/drawing/2014/main" id="{BC497172-76DA-4E7C-B326-B59B3EDF3919}"/>
              </a:ext>
            </a:extLst>
          </p:cNvPr>
          <p:cNvSpPr>
            <a:spLocks xmlns:a="http://schemas.openxmlformats.org/drawingml/2006/main" noGrp="1"/>
          </p:cNvSpPr>
          <p:nvPr/>
        </p:nvSpPr>
        <p:spPr>
          <a:xfrm xmlns:a="http://schemas.openxmlformats.org/drawingml/2006/main">
            <a:off x="16596360" y="38697408"/>
            <a:ext cx="1513332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CF4500"/>
                </a:solidFill>
                <a:latin typeface="Arial"/>
                <a:ea typeface="Arial"/>
                <a:cs typeface="Arial"/>
              </a:defRPr>
            </a:pPr>
            <a:r>
              <a:rPr sz="3400" b="1">
                <a:solidFill>
                  <a:srgbClr val="CF4500"/>
                </a:solidFill>
                <a:latin typeface="Arial"/>
                <a:ea typeface="Arial"/>
                <a:cs typeface="Arial"/>
              </a:rPr>
              <a:t>REFERENCES</a:t>
            </a:r>
          </a:p>
        </p:txBody>
      </p:sp>
      <p:sp>
        <p:nvSpPr>
          <p:cNvPr id="61" name="References">
            <a:extLst xmlns:a="http://schemas.openxmlformats.org/drawingml/2006/main">
              <a:ext uri="{FF2B5EF4-FFF2-40B4-BE49-F238E27FC236}">
                <a16:creationId xmlns:a16="http://schemas.microsoft.com/office/drawing/2014/main" id="{FED5D7FF-1D01-43F7-B990-ECE7C58D8F40}"/>
              </a:ext>
            </a:extLst>
          </p:cNvPr>
          <p:cNvSpPr>
            <a:spLocks xmlns:a="http://schemas.openxmlformats.org/drawingml/2006/main" noGrp="1"/>
          </p:cNvSpPr>
          <p:nvPr/>
        </p:nvSpPr>
        <p:spPr>
          <a:xfrm xmlns:a="http://schemas.openxmlformats.org/drawingml/2006/main">
            <a:off x="16596360" y="39438072"/>
            <a:ext cx="15133320" cy="324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1. Destere A, Lombardi R, Labriffe M, et al. Can synthetic data overcome the privacy and fidelity bottleneck in Pharmacometrics? A comparative benchmark using a daptomycin population pharmacokinetic model. medRxiv [preprint]. 2026. doi:10.64898/2026.05.30.26354512.</a:t>
            </a:r>
          </a:p>
          <a:p xmlns:a="http://schemas.openxmlformats.org/drawingml/2006/main">
            <a:r>
              <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2. Jiang Y, García-Durán A, Bachali Losada I, Girard P, Terranova N. Generative models for synthetic data generation: application to pharmacokinetic/pharmacodynamic data. J Pharmacokinet Pharmacodyn. 2024;51:877–885. doi:10.1007/s10928-024-09935-6.</a:t>
            </a:r>
          </a:p>
        </p:txBody>
      </p:sp>
      <p:sp>
        <p:nvSpPr>
          <p:cNvPr id="62" name="Scope">
            <a:extLst xmlns:a="http://schemas.openxmlformats.org/drawingml/2006/main">
              <a:ext uri="{FF2B5EF4-FFF2-40B4-BE49-F238E27FC236}">
                <a16:creationId xmlns:a16="http://schemas.microsoft.com/office/drawing/2014/main" id="{2A0EF020-D6C2-41B8-9290-F5CFE51D9911}"/>
              </a:ext>
            </a:extLst>
          </p:cNvPr>
          <p:cNvSpPr>
            <a:spLocks xmlns:a="http://schemas.openxmlformats.org/drawingml/2006/main" noGrp="1"/>
          </p:cNvSpPr>
          <p:nvPr/>
        </p:nvSpPr>
        <p:spPr>
          <a:xfrm xmlns:a="http://schemas.openxmlformats.org/drawingml/2006/main">
            <a:off x="16596360" y="42245280"/>
            <a:ext cx="15133320" cy="1188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Deep learning methods [2] are outside scope because learned weights lack a compact, interpretable fingerprint. Additional methods provide differential privacy, but noise reduced fidelity in the small-study settings and privacy budgets evaluated.</a:t>
            </a:r>
          </a:p>
        </p:txBody>
      </p:sp>
    </p:spTree>
    <p:extLst>
      <p:ext uri="{BB962C8B-B14F-4D97-AF65-F5344CB8AC3E}">
        <p14:creationId xmlns:p14="http://schemas.microsoft.com/office/powerpoint/2010/main" val="1680193071"/>
      </p:ext>
    </p:extLst>
  </p:cSld>
</p:sld>
</file>

<file path=ppt/theme/theme1.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2026-09-18T11:31:02.7480000Z</dcterms:created>
  <dcterms:modified xsi:type="dcterms:W3CDTF">2026-09-18T11:31:02.7480000Z</dcterms:modified>
</coreProperties>
</file>